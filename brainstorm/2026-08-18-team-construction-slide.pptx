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Dispatch shape - parallel is the default. Collapse is the one to call out: hand the whole causal chain to ONE cross-querying specialist that self-anchors, and the dependency costs no extra round. Sequential only when the anchor is itself heavy.</a:t>
            </a:r>
          </a:p>
          <a:p/>
          <a:p>
            <a:r>
              <a:t>02 Team size - the minimum-set rule is deliberately INVERTED for open, senior-level questions (no metric named, no table named). There, each specialist gets a direction of investigation rather than a fetch, and the directions are orthogonal so results compose instead of voting on one point.</a:t>
            </a:r>
          </a:p>
          <a:p/>
          <a:p>
            <a:r>
              <a:t>03 General specialist review - this one is server-enforced, not chosen by the orchestrator. It fires on every turn with 2+ domain specialists. It carries verify-only tools (it can re-measure an aggregate, it cannot dump rows) and it never dispatches - the directive is advisory. If it fails or times out, we ship the answer we already had.</a:t>
            </a:r>
          </a:p>
          <a:p/>
          <a:p>
            <a:r>
              <a:t>The 2025-05 / 2024-09 example runs through all three bands: it is what naive parallel gets wrong, what collapse/sequential prevents, and what the review catches when planning missed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provenance, not plumbing.</a:t>
            </a:r>
          </a:p>
          <a:p/>
          <a:p>
            <a:r>
              <a:t>A knowledge point has four fields. Two are written by the LLM (topic, claim) and two are filled deterministically (numbers from the parsed tool output, viz as a file path from the auto-chart pipeline). The LLM never writes a number into memory.</a:t>
            </a:r>
          </a:p>
          <a:p/>
          <a:p>
            <a:r>
              <a:t>Why it is built that way: (a) the firewall - raw numbers never re-enter an LLM, so there is nothing to redact; (b) faithfulness - KB values exactly equal tool output, so a follow-up turn reads the real figure rather than a paraphrase that drifted.</a:t>
            </a:r>
          </a:p>
          <a:p/>
          <a:p>
            <a:r>
              <a:t>_ParsedSeries is the midterm product that proves the path: it is built by parsing summarize_by_group output into key + raw_value, with no model in the loop.</a:t>
            </a:r>
          </a:p>
          <a:p/>
          <a:p>
            <a:r>
              <a:t>The distiller runs in parallel to the answer path. FinalAnswer streams to the reviewer and writes nothing to the KB, so a distiller failure costs the memory, never the answer.</a:t>
            </a:r>
          </a:p>
          <a:p/>
          <a:p>
            <a:r>
              <a:t>Full engineering diagram: brainstorm/layer1_memory_distiller.svg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fork, not the fences.</a:t>
            </a:r>
          </a:p>
          <a:p/>
          <a:p>
            <a:r>
              <a:t>Everything downstream follows from one question: did anything come back at all? If nothing came back, no amount of reasoning helps - you abandon and re-issue the same request, and a clock is the only thing that can make that call. If something DID come back and it is wrong, repeating the identical request is guaranteed to reproduce the same wrong result, so the input has to change.</a:t>
            </a:r>
          </a:p>
          <a:p/>
          <a:p>
            <a:r>
              <a:t>That is the whole concept. The next slide is the mechanism - fences, triggers, and the traps - and it is there for the questions, not for the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thing to land: these are two different machines answering two different questions. Stall-and-retry asks 'did anything come back' and a clock decides. Self-recovery asks 'is what came back usable' and the content decides.</a:t>
            </a:r>
          </a:p>
          <a:p/>
          <a:p>
            <a:r>
              <a:t>Left - four nested fences. Turn 360s is a hard cancel with no retry. Phase expiry means that agent failed but the turn continues degraded. Only two phases retry: orch_plan replans, screen re-issues. The call layer abandons at a 40s stall and re-issues exactly once.</a:t>
            </a:r>
          </a:p>
          <a:p/>
          <a:p>
            <a:r>
              <a:t>The evidence for building it this way: safechain calls do not run slow, they stall. Failures died at exactly their own fence - 100.01, 120.01, 25.00 - while normal calls in the same turns took 2 to 13 seconds. A number that lands on the fence to two decimals is a stall, not slow work.</a:t>
            </a:r>
          </a:p>
          <a:p/>
          <a:p>
            <a:r>
              <a:t>Right - self-recovery retries with a CHANGED input, because the answer was wrong rather than late. absence_reread is the interesting one: nothing broke, the specialist misread a correct result (one returned payment in, 'zero records' out), so the retry is a re-read of the transcript it already has, not a fresh query.</a:t>
            </a:r>
          </a:p>
          <a:p/>
          <a:p>
            <a:r>
              <a:t>If asked why not just retry everything: the multiplication trap. Two agent attempts times two call attempts is four requests under one phase fence, and the arithmetic has to stay inspectable.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 classifications from _DEGRADED_RECOVERY in agent_tool.py - each key is a tool failure the grounding layer can detect, each value is the guidance appended to the retry.</a:t>
            </a:r>
          </a:p>
          <a:p/>
          <a:p>
            <a:r>
              <a:t>The design rule is in the code comment: keep each line ACTIONABLE, because the model gets one retry, so 'your call failed' is not enough - it needs the specific next move.</a:t>
            </a:r>
          </a:p>
          <a:p/>
          <a:p>
            <a:r>
              <a:t>The bottom row is the one worth dwelling on. Nothing failed. The tool succeeded and returned zero rows, which is indistinguishable between a wrong column name, a wrong value vocabulary, and a genuine absence. The observed failure: a specialist reported no high-TSR transactions on a case that had them, because the filter named a score column on a table that only carries amount and merchant. That condition was never tested. _why_empty now re-runs each condition alone and leads with 'NOT A NEGATIVE FINDING' when a named column is missing.</a:t>
            </a:r>
          </a:p>
          <a:p/>
          <a:p>
            <a:r>
              <a:t>Note the guard clauses - 'do NOT report it as a data gap', 'do NOT report this as no such rows exist'. Half the value here is stopping a broken call from being laundered into a confident negative.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answer to 'any model opportunities', scored claim by claim. Ten of twelve eligible claims are supported straight off the trace. Two are not, and they fail in completely different ways.</a:t>
            </a:r>
          </a:p>
          <a:p/>
          <a:p>
            <a:r>
              <a:t>The 20.9% is the one to stop on. The answer cites 787 in August 2025 and 606 in May 2026, and calls it a 20.9% decline. Those endpoints give 23.0%. Twenty point nine would require a starting score of 766. So the derived value does not follow from the evidence printed directly beside it - and note that every INPUT to it was correct. A human reading this answer would not catch that, because the numbers look cited and the sentence reads fluently.</a:t>
            </a:r>
          </a:p>
          <a:p/>
          <a:p>
            <a:r>
              <a:t>The second failure is different in kind: 'the drivers were redundant' is not a judgement. Redundancy is perfectly countable as a correlation between drivers. It fails because nobody computed it - the trace only ranked drivers by frequency. Unsupported, not ineligible, and that distinction is the whole discipline.</a:t>
            </a:r>
          </a:p>
          <a:p/>
          <a:p>
            <a:r>
              <a:t>The three ineligible lines fail three more ways: no referent, judgement, counterfactual. None of them is a defect - they are the interpretive layer an opportunity question is supposed to have. They just cannot be scored, so they leave the denominator.</a:t>
            </a:r>
          </a:p>
          <a:p/>
          <a:p>
            <a:r>
              <a:t>On leverage: a maximal team over-collects by design, so this number is only meaningful against other discovery turns. Grounded rate is the one that travels.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47625"/>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419100" y="209550"/>
            <a:ext cx="10477500" cy="400050"/>
          </a:xfrm>
          <a:prstGeom prst="rect">
            <a:avLst/>
          </a:prstGeom>
          <a:noFill/>
        </p:spPr>
        <p:txBody>
          <a:bodyPr wrap="none" lIns="0" rIns="0" tIns="0" bIns="0" anchor="ctr">
            <a:spAutoFit/>
          </a:bodyPr>
          <a:lstStyle/>
          <a:p>
            <a:pPr algn="l">
              <a:lnSpc>
                <a:spcPct val="100000"/>
              </a:lnSpc>
            </a:pPr>
            <a:r>
              <a:rPr sz="2400" b="1">
                <a:solidFill>
                  <a:srgbClr val="00175A"/>
                </a:solidFill>
                <a:latin typeface="Arial"/>
              </a:rPr>
              <a:t>Team Construction | three decisions per turn</a:t>
            </a:r>
          </a:p>
        </p:txBody>
      </p:sp>
      <p:cxnSp>
        <p:nvCxnSpPr>
          <p:cNvPr id="4" name="Connector 3"/>
          <p:cNvCxnSpPr/>
          <p:nvPr/>
        </p:nvCxnSpPr>
        <p:spPr>
          <a:xfrm>
            <a:off x="419100" y="685800"/>
            <a:ext cx="11353800" cy="0"/>
          </a:xfrm>
          <a:prstGeom prst="line">
            <a:avLst/>
          </a:prstGeom>
          <a:ln w="12700">
            <a:solidFill>
              <a:srgbClr val="C7CFD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9100" y="1047750"/>
            <a:ext cx="1981200" cy="133350"/>
          </a:xfrm>
          <a:prstGeom prst="rect">
            <a:avLst/>
          </a:prstGeom>
          <a:noFill/>
        </p:spPr>
        <p:txBody>
          <a:bodyPr wrap="none" lIns="0" rIns="0" tIns="0" bIns="0" anchor="ctr">
            <a:spAutoFit/>
          </a:bodyPr>
          <a:lstStyle/>
          <a:p>
            <a:pPr algn="l">
              <a:lnSpc>
                <a:spcPct val="100000"/>
              </a:lnSpc>
            </a:pPr>
            <a:r>
              <a:rPr sz="825" b="1">
                <a:solidFill>
                  <a:srgbClr val="006FCF"/>
                </a:solidFill>
                <a:latin typeface="Arial"/>
              </a:rPr>
              <a:t>01</a:t>
            </a:r>
          </a:p>
        </p:txBody>
      </p:sp>
      <p:sp>
        <p:nvSpPr>
          <p:cNvPr id="6" name="TextBox 5"/>
          <p:cNvSpPr txBox="1"/>
          <p:nvPr/>
        </p:nvSpPr>
        <p:spPr>
          <a:xfrm>
            <a:off x="419100" y="1200150"/>
            <a:ext cx="1981200" cy="495300"/>
          </a:xfrm>
          <a:prstGeom prst="rect">
            <a:avLst/>
          </a:prstGeom>
          <a:noFill/>
        </p:spPr>
        <p:txBody>
          <a:bodyPr wrap="square" lIns="0" rIns="0" tIns="0" bIns="0" anchor="t">
            <a:spAutoFit/>
          </a:bodyPr>
          <a:lstStyle/>
          <a:p>
            <a:pPr algn="l">
              <a:lnSpc>
                <a:spcPct val="105000"/>
              </a:lnSpc>
            </a:pPr>
            <a:r>
              <a:rPr sz="1500" b="1">
                <a:solidFill>
                  <a:srgbClr val="00175A"/>
                </a:solidFill>
                <a:latin typeface="Arial"/>
              </a:rPr>
              <a:t>Dispatch shape</a:t>
            </a:r>
          </a:p>
        </p:txBody>
      </p:sp>
      <p:sp>
        <p:nvSpPr>
          <p:cNvPr id="7" name="TextBox 6"/>
          <p:cNvSpPr txBox="1"/>
          <p:nvPr/>
        </p:nvSpPr>
        <p:spPr>
          <a:xfrm>
            <a:off x="419100" y="1752600"/>
            <a:ext cx="1981200" cy="742950"/>
          </a:xfrm>
          <a:prstGeom prst="rect">
            <a:avLst/>
          </a:prstGeom>
          <a:noFill/>
        </p:spPr>
        <p:txBody>
          <a:bodyPr wrap="square" lIns="0" rIns="0" tIns="0" bIns="0" anchor="t">
            <a:spAutoFit/>
          </a:bodyPr>
          <a:lstStyle/>
          <a:p>
            <a:pPr algn="l">
              <a:lnSpc>
                <a:spcPct val="125000"/>
              </a:lnSpc>
            </a:pPr>
            <a:r>
              <a:rPr sz="937" b="1">
                <a:solidFill>
                  <a:srgbClr val="4A5568"/>
                </a:solidFill>
                <a:latin typeface="Arial"/>
              </a:rPr>
              <a:t>Parallel by default.</a:t>
            </a:r>
            <a:r>
              <a:rPr sz="937" b="0">
                <a:solidFill>
                  <a:srgbClr val="4A5568"/>
                </a:solidFill>
                <a:latin typeface="Arial"/>
              </a:rPr>
              <a:t> Add a round only when one answer must exist before the next question can be asked.</a:t>
            </a:r>
          </a:p>
        </p:txBody>
      </p:sp>
      <p:sp>
        <p:nvSpPr>
          <p:cNvPr id="8" name="TextBox 7"/>
          <p:cNvSpPr txBox="1"/>
          <p:nvPr/>
        </p:nvSpPr>
        <p:spPr>
          <a:xfrm>
            <a:off x="419100" y="2971800"/>
            <a:ext cx="1981200" cy="133350"/>
          </a:xfrm>
          <a:prstGeom prst="rect">
            <a:avLst/>
          </a:prstGeom>
          <a:noFill/>
        </p:spPr>
        <p:txBody>
          <a:bodyPr wrap="none" lIns="0" rIns="0" tIns="0" bIns="0" anchor="ctr">
            <a:spAutoFit/>
          </a:bodyPr>
          <a:lstStyle/>
          <a:p>
            <a:pPr algn="l">
              <a:lnSpc>
                <a:spcPct val="100000"/>
              </a:lnSpc>
            </a:pPr>
            <a:r>
              <a:rPr sz="825" b="1">
                <a:solidFill>
                  <a:srgbClr val="006FCF"/>
                </a:solidFill>
                <a:latin typeface="Arial"/>
              </a:rPr>
              <a:t>02</a:t>
            </a:r>
          </a:p>
        </p:txBody>
      </p:sp>
      <p:sp>
        <p:nvSpPr>
          <p:cNvPr id="9" name="TextBox 8"/>
          <p:cNvSpPr txBox="1"/>
          <p:nvPr/>
        </p:nvSpPr>
        <p:spPr>
          <a:xfrm>
            <a:off x="419100" y="3124200"/>
            <a:ext cx="1981200" cy="495300"/>
          </a:xfrm>
          <a:prstGeom prst="rect">
            <a:avLst/>
          </a:prstGeom>
          <a:noFill/>
        </p:spPr>
        <p:txBody>
          <a:bodyPr wrap="square" lIns="0" rIns="0" tIns="0" bIns="0" anchor="t">
            <a:spAutoFit/>
          </a:bodyPr>
          <a:lstStyle/>
          <a:p>
            <a:pPr algn="l">
              <a:lnSpc>
                <a:spcPct val="105000"/>
              </a:lnSpc>
            </a:pPr>
            <a:r>
              <a:rPr sz="1500" b="1">
                <a:solidFill>
                  <a:srgbClr val="00175A"/>
                </a:solidFill>
                <a:latin typeface="Arial"/>
              </a:rPr>
              <a:t>Team size</a:t>
            </a:r>
          </a:p>
        </p:txBody>
      </p:sp>
      <p:sp>
        <p:nvSpPr>
          <p:cNvPr id="10" name="TextBox 9"/>
          <p:cNvSpPr txBox="1"/>
          <p:nvPr/>
        </p:nvSpPr>
        <p:spPr>
          <a:xfrm>
            <a:off x="419100" y="3676650"/>
            <a:ext cx="1981200" cy="742950"/>
          </a:xfrm>
          <a:prstGeom prst="rect">
            <a:avLst/>
          </a:prstGeom>
          <a:noFill/>
        </p:spPr>
        <p:txBody>
          <a:bodyPr wrap="square" lIns="0" rIns="0" tIns="0" bIns="0" anchor="t">
            <a:spAutoFit/>
          </a:bodyPr>
          <a:lstStyle/>
          <a:p>
            <a:pPr algn="l">
              <a:lnSpc>
                <a:spcPct val="125000"/>
              </a:lnSpc>
            </a:pPr>
            <a:r>
              <a:rPr sz="937" b="1">
                <a:solidFill>
                  <a:srgbClr val="4A5568"/>
                </a:solidFill>
                <a:latin typeface="Arial"/>
              </a:rPr>
              <a:t>Minimal fetches. Maximal finds.</a:t>
            </a:r>
            <a:r>
              <a:rPr sz="937" b="0">
                <a:solidFill>
                  <a:srgbClr val="4A5568"/>
                </a:solidFill>
                <a:latin typeface="Arial"/>
              </a:rPr>
              <a:t> Open, senior-level questions deliberately invert the minimum-set rule.</a:t>
            </a:r>
          </a:p>
        </p:txBody>
      </p:sp>
      <p:sp>
        <p:nvSpPr>
          <p:cNvPr id="11" name="TextBox 10"/>
          <p:cNvSpPr txBox="1"/>
          <p:nvPr/>
        </p:nvSpPr>
        <p:spPr>
          <a:xfrm>
            <a:off x="419100" y="4895850"/>
            <a:ext cx="1981200" cy="133350"/>
          </a:xfrm>
          <a:prstGeom prst="rect">
            <a:avLst/>
          </a:prstGeom>
          <a:noFill/>
        </p:spPr>
        <p:txBody>
          <a:bodyPr wrap="none" lIns="0" rIns="0" tIns="0" bIns="0" anchor="ctr">
            <a:spAutoFit/>
          </a:bodyPr>
          <a:lstStyle/>
          <a:p>
            <a:pPr algn="l">
              <a:lnSpc>
                <a:spcPct val="100000"/>
              </a:lnSpc>
            </a:pPr>
            <a:r>
              <a:rPr sz="825" b="1">
                <a:solidFill>
                  <a:srgbClr val="006FCF"/>
                </a:solidFill>
                <a:latin typeface="Arial"/>
              </a:rPr>
              <a:t>03</a:t>
            </a:r>
          </a:p>
        </p:txBody>
      </p:sp>
      <p:sp>
        <p:nvSpPr>
          <p:cNvPr id="12" name="TextBox 11"/>
          <p:cNvSpPr txBox="1"/>
          <p:nvPr/>
        </p:nvSpPr>
        <p:spPr>
          <a:xfrm>
            <a:off x="419100" y="5048250"/>
            <a:ext cx="1981200" cy="495300"/>
          </a:xfrm>
          <a:prstGeom prst="rect">
            <a:avLst/>
          </a:prstGeom>
          <a:noFill/>
        </p:spPr>
        <p:txBody>
          <a:bodyPr wrap="square" lIns="0" rIns="0" tIns="0" bIns="0" anchor="t">
            <a:spAutoFit/>
          </a:bodyPr>
          <a:lstStyle/>
          <a:p>
            <a:pPr algn="l">
              <a:lnSpc>
                <a:spcPct val="105000"/>
              </a:lnSpc>
            </a:pPr>
            <a:r>
              <a:rPr sz="1500" b="1">
                <a:solidFill>
                  <a:srgbClr val="00175A"/>
                </a:solidFill>
                <a:latin typeface="Arial"/>
              </a:rPr>
              <a:t>General specialist review</a:t>
            </a:r>
          </a:p>
        </p:txBody>
      </p:sp>
      <p:sp>
        <p:nvSpPr>
          <p:cNvPr id="13" name="TextBox 12"/>
          <p:cNvSpPr txBox="1"/>
          <p:nvPr/>
        </p:nvSpPr>
        <p:spPr>
          <a:xfrm>
            <a:off x="419100" y="5600700"/>
            <a:ext cx="1981200" cy="742950"/>
          </a:xfrm>
          <a:prstGeom prst="rect">
            <a:avLst/>
          </a:prstGeom>
          <a:noFill/>
        </p:spPr>
        <p:txBody>
          <a:bodyPr wrap="square" lIns="0" rIns="0" tIns="0" bIns="0" anchor="t">
            <a:spAutoFit/>
          </a:bodyPr>
          <a:lstStyle/>
          <a:p>
            <a:pPr algn="l">
              <a:lnSpc>
                <a:spcPct val="125000"/>
              </a:lnSpc>
            </a:pPr>
            <a:r>
              <a:rPr sz="937" b="1">
                <a:solidFill>
                  <a:srgbClr val="4A5568"/>
                </a:solidFill>
                <a:latin typeface="Arial"/>
              </a:rPr>
              <a:t>Server-enforced, not model-chosen.</a:t>
            </a:r>
            <a:r>
              <a:rPr sz="937" b="0">
                <a:solidFill>
                  <a:srgbClr val="4A5568"/>
                </a:solidFill>
                <a:latin typeface="Arial"/>
              </a:rPr>
              <a:t> On every ≥2-specialist turn, the team is checked for coherence before the answer ships.</a:t>
            </a:r>
          </a:p>
        </p:txBody>
      </p:sp>
      <p:sp>
        <p:nvSpPr>
          <p:cNvPr id="14" name="Rectangle 13"/>
          <p:cNvSpPr/>
          <p:nvPr/>
        </p:nvSpPr>
        <p:spPr>
          <a:xfrm>
            <a:off x="8763000" y="933450"/>
            <a:ext cx="3009900" cy="154305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Rectangle 14"/>
          <p:cNvSpPr/>
          <p:nvPr/>
        </p:nvSpPr>
        <p:spPr>
          <a:xfrm>
            <a:off x="8763000" y="933450"/>
            <a:ext cx="38100" cy="154305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8915400" y="1047750"/>
            <a:ext cx="2781300" cy="114300"/>
          </a:xfrm>
          <a:prstGeom prst="rect">
            <a:avLst/>
          </a:prstGeom>
          <a:noFill/>
        </p:spPr>
        <p:txBody>
          <a:bodyPr wrap="none" lIns="0" rIns="0" tIns="0" bIns="0" anchor="ctr">
            <a:spAutoFit/>
          </a:bodyPr>
          <a:lstStyle/>
          <a:p>
            <a:pPr algn="l">
              <a:lnSpc>
                <a:spcPct val="100000"/>
              </a:lnSpc>
            </a:pPr>
            <a:r>
              <a:rPr sz="712" b="1">
                <a:solidFill>
                  <a:srgbClr val="006FCF"/>
                </a:solidFill>
                <a:latin typeface="Arial"/>
              </a:rPr>
              <a:t>E X A M P L E</a:t>
            </a:r>
          </a:p>
        </p:txBody>
      </p:sp>
      <p:sp>
        <p:nvSpPr>
          <p:cNvPr id="17" name="TextBox 16"/>
          <p:cNvSpPr txBox="1"/>
          <p:nvPr/>
        </p:nvSpPr>
        <p:spPr>
          <a:xfrm>
            <a:off x="8915400" y="1219200"/>
            <a:ext cx="2781300" cy="152400"/>
          </a:xfrm>
          <a:prstGeom prst="rect">
            <a:avLst/>
          </a:prstGeom>
          <a:noFill/>
        </p:spPr>
        <p:txBody>
          <a:bodyPr wrap="square" lIns="0" rIns="0" tIns="0" bIns="0" anchor="t">
            <a:spAutoFit/>
          </a:bodyPr>
          <a:lstStyle/>
          <a:p>
            <a:pPr algn="l">
              <a:lnSpc>
                <a:spcPct val="118000"/>
              </a:lnSpc>
            </a:pPr>
            <a:r>
              <a:rPr sz="937" b="1">
                <a:solidFill>
                  <a:srgbClr val="00175A"/>
                </a:solidFill>
                <a:latin typeface="Arial"/>
              </a:rPr>
              <a:t>“any spending spikes? what are the drivers?”</a:t>
            </a:r>
          </a:p>
        </p:txBody>
      </p:sp>
      <p:sp>
        <p:nvSpPr>
          <p:cNvPr id="18" name="TextBox 17"/>
          <p:cNvSpPr txBox="1"/>
          <p:nvPr/>
        </p:nvSpPr>
        <p:spPr>
          <a:xfrm>
            <a:off x="8915400" y="1409700"/>
            <a:ext cx="2781300" cy="285750"/>
          </a:xfrm>
          <a:prstGeom prst="rect">
            <a:avLst/>
          </a:prstGeom>
          <a:noFill/>
        </p:spPr>
        <p:txBody>
          <a:bodyPr wrap="square" lIns="0" rIns="0" tIns="0" bIns="0" anchor="t">
            <a:spAutoFit/>
          </a:bodyPr>
          <a:lstStyle/>
          <a:p>
            <a:pPr algn="l">
              <a:lnSpc>
                <a:spcPct val="118000"/>
              </a:lnSpc>
            </a:pPr>
            <a:r>
              <a:rPr sz="885" b="0">
                <a:solidFill>
                  <a:srgbClr val="4A5568"/>
                </a:solidFill>
                <a:latin typeface="Arial"/>
              </a:rPr>
              <a:t>Causal — the spike window must exist before drivers can be read against it.</a:t>
            </a:r>
          </a:p>
        </p:txBody>
      </p:sp>
      <p:sp>
        <p:nvSpPr>
          <p:cNvPr id="19" name="TextBox 18"/>
          <p:cNvSpPr txBox="1"/>
          <p:nvPr/>
        </p:nvSpPr>
        <p:spPr>
          <a:xfrm>
            <a:off x="8915400" y="1743075"/>
            <a:ext cx="2781300" cy="428625"/>
          </a:xfrm>
          <a:prstGeom prst="rect">
            <a:avLst/>
          </a:prstGeom>
          <a:noFill/>
        </p:spPr>
        <p:txBody>
          <a:bodyPr wrap="square" lIns="0" rIns="0" tIns="0" bIns="0" anchor="t">
            <a:spAutoFit/>
          </a:bodyPr>
          <a:lstStyle/>
          <a:p>
            <a:pPr algn="l">
              <a:lnSpc>
                <a:spcPct val="118000"/>
              </a:lnSpc>
            </a:pPr>
            <a:r>
              <a:rPr sz="885" b="1">
                <a:solidFill>
                  <a:srgbClr val="A03530"/>
                </a:solidFill>
                <a:latin typeface="Arial"/>
              </a:rPr>
              <a:t>Naive parallel:</a:t>
            </a:r>
            <a:r>
              <a:rPr sz="885" b="0">
                <a:solidFill>
                  <a:srgbClr val="A03530"/>
                </a:solidFill>
                <a:latin typeface="Arial"/>
              </a:rPr>
              <a:t> spend returns a spike in </a:t>
            </a:r>
            <a:r>
              <a:rPr sz="885" b="1">
                <a:solidFill>
                  <a:srgbClr val="A03530"/>
                </a:solidFill>
                <a:latin typeface="Arial"/>
              </a:rPr>
              <a:t>2025-05</a:t>
            </a:r>
            <a:r>
              <a:rPr sz="885" b="0">
                <a:solidFill>
                  <a:srgbClr val="A03530"/>
                </a:solidFill>
                <a:latin typeface="Arial"/>
              </a:rPr>
              <a:t>, modeling returns drivers from </a:t>
            </a:r>
            <a:r>
              <a:rPr sz="885" b="1">
                <a:solidFill>
                  <a:srgbClr val="A03530"/>
                </a:solidFill>
                <a:latin typeface="Arial"/>
              </a:rPr>
              <a:t>2024-09</a:t>
            </a:r>
            <a:r>
              <a:rPr sz="885" b="0">
                <a:solidFill>
                  <a:srgbClr val="A03530"/>
                </a:solidFill>
                <a:latin typeface="Arial"/>
              </a:rPr>
              <a:t>. Two halves that don’t connect.</a:t>
            </a:r>
          </a:p>
        </p:txBody>
      </p:sp>
      <p:sp>
        <p:nvSpPr>
          <p:cNvPr id="20" name="Rectangle 19"/>
          <p:cNvSpPr/>
          <p:nvPr/>
        </p:nvSpPr>
        <p:spPr>
          <a:xfrm>
            <a:off x="8763000" y="2857500"/>
            <a:ext cx="3009900" cy="154305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Rectangle 20"/>
          <p:cNvSpPr/>
          <p:nvPr/>
        </p:nvSpPr>
        <p:spPr>
          <a:xfrm>
            <a:off x="8763000" y="2857500"/>
            <a:ext cx="38100" cy="154305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8915400" y="2971800"/>
            <a:ext cx="2781300" cy="114300"/>
          </a:xfrm>
          <a:prstGeom prst="rect">
            <a:avLst/>
          </a:prstGeom>
          <a:noFill/>
        </p:spPr>
        <p:txBody>
          <a:bodyPr wrap="none" lIns="0" rIns="0" tIns="0" bIns="0" anchor="ctr">
            <a:spAutoFit/>
          </a:bodyPr>
          <a:lstStyle/>
          <a:p>
            <a:pPr algn="l">
              <a:lnSpc>
                <a:spcPct val="100000"/>
              </a:lnSpc>
            </a:pPr>
            <a:r>
              <a:rPr sz="712" b="1">
                <a:solidFill>
                  <a:srgbClr val="006FCF"/>
                </a:solidFill>
                <a:latin typeface="Arial"/>
              </a:rPr>
              <a:t>E X A M P L E</a:t>
            </a:r>
          </a:p>
        </p:txBody>
      </p:sp>
      <p:sp>
        <p:nvSpPr>
          <p:cNvPr id="23" name="TextBox 22"/>
          <p:cNvSpPr txBox="1"/>
          <p:nvPr/>
        </p:nvSpPr>
        <p:spPr>
          <a:xfrm>
            <a:off x="8915400" y="3143250"/>
            <a:ext cx="2781300" cy="152400"/>
          </a:xfrm>
          <a:prstGeom prst="rect">
            <a:avLst/>
          </a:prstGeom>
          <a:noFill/>
        </p:spPr>
        <p:txBody>
          <a:bodyPr wrap="square" lIns="0" rIns="0" tIns="0" bIns="0" anchor="t">
            <a:spAutoFit/>
          </a:bodyPr>
          <a:lstStyle/>
          <a:p>
            <a:pPr algn="l">
              <a:lnSpc>
                <a:spcPct val="118000"/>
              </a:lnSpc>
            </a:pPr>
            <a:r>
              <a:rPr sz="937" b="1">
                <a:solidFill>
                  <a:srgbClr val="00175A"/>
                </a:solidFill>
                <a:latin typeface="Arial"/>
              </a:rPr>
              <a:t>“what’s the FICO?” → 1 specialist</a:t>
            </a:r>
          </a:p>
        </p:txBody>
      </p:sp>
      <p:sp>
        <p:nvSpPr>
          <p:cNvPr id="24" name="TextBox 23"/>
          <p:cNvSpPr txBox="1"/>
          <p:nvPr/>
        </p:nvSpPr>
        <p:spPr>
          <a:xfrm>
            <a:off x="8915400" y="3333750"/>
            <a:ext cx="2781300" cy="142875"/>
          </a:xfrm>
          <a:prstGeom prst="rect">
            <a:avLst/>
          </a:prstGeom>
          <a:noFill/>
        </p:spPr>
        <p:txBody>
          <a:bodyPr wrap="square" lIns="0" rIns="0" tIns="0" bIns="0" anchor="t">
            <a:spAutoFit/>
          </a:bodyPr>
          <a:lstStyle/>
          <a:p>
            <a:pPr algn="l">
              <a:lnSpc>
                <a:spcPct val="118000"/>
              </a:lnSpc>
            </a:pPr>
            <a:r>
              <a:rPr sz="885" b="0">
                <a:solidFill>
                  <a:srgbClr val="4A5568"/>
                </a:solidFill>
                <a:latin typeface="Arial"/>
              </a:rPr>
              <a:t>Named metric, owning column, one fetch.</a:t>
            </a:r>
          </a:p>
        </p:txBody>
      </p:sp>
      <p:sp>
        <p:nvSpPr>
          <p:cNvPr id="25" name="TextBox 24"/>
          <p:cNvSpPr txBox="1"/>
          <p:nvPr/>
        </p:nvSpPr>
        <p:spPr>
          <a:xfrm>
            <a:off x="8915400" y="3524250"/>
            <a:ext cx="2781300" cy="152400"/>
          </a:xfrm>
          <a:prstGeom prst="rect">
            <a:avLst/>
          </a:prstGeom>
          <a:noFill/>
        </p:spPr>
        <p:txBody>
          <a:bodyPr wrap="square" lIns="0" rIns="0" tIns="0" bIns="0" anchor="t">
            <a:spAutoFit/>
          </a:bodyPr>
          <a:lstStyle/>
          <a:p>
            <a:pPr algn="l">
              <a:lnSpc>
                <a:spcPct val="118000"/>
              </a:lnSpc>
            </a:pPr>
            <a:r>
              <a:rPr sz="937" b="1">
                <a:solidFill>
                  <a:srgbClr val="00175A"/>
                </a:solidFill>
                <a:latin typeface="Arial"/>
              </a:rPr>
              <a:t>“any model opportunities?” → 4+</a:t>
            </a:r>
          </a:p>
        </p:txBody>
      </p:sp>
      <p:sp>
        <p:nvSpPr>
          <p:cNvPr id="26" name="TextBox 25"/>
          <p:cNvSpPr txBox="1"/>
          <p:nvPr/>
        </p:nvSpPr>
        <p:spPr>
          <a:xfrm>
            <a:off x="8915400" y="3714750"/>
            <a:ext cx="2781300" cy="571500"/>
          </a:xfrm>
          <a:prstGeom prst="rect">
            <a:avLst/>
          </a:prstGeom>
          <a:noFill/>
        </p:spPr>
        <p:txBody>
          <a:bodyPr wrap="square" lIns="0" rIns="0" tIns="0" bIns="0" anchor="t">
            <a:spAutoFit/>
          </a:bodyPr>
          <a:lstStyle/>
          <a:p>
            <a:pPr algn="l">
              <a:lnSpc>
                <a:spcPct val="118000"/>
              </a:lnSpc>
            </a:pPr>
            <a:r>
              <a:rPr sz="885" b="0">
                <a:solidFill>
                  <a:srgbClr val="4A5568"/>
                </a:solidFill>
                <a:latin typeface="Arial"/>
              </a:rPr>
              <a:t>Names no metric and no table. Its value is in what the team </a:t>
            </a:r>
            <a:r>
              <a:rPr sz="885" b="1">
                <a:solidFill>
                  <a:srgbClr val="4A5568"/>
                </a:solidFill>
                <a:latin typeface="Arial"/>
              </a:rPr>
              <a:t>finds</a:t>
            </a:r>
            <a:r>
              <a:rPr sz="885" b="0">
                <a:solidFill>
                  <a:srgbClr val="4A5568"/>
                </a:solidFill>
                <a:latin typeface="Arial"/>
              </a:rPr>
              <a:t>, so each specialist gets a different hypothesis to test — and </a:t>
            </a:r>
            <a:r>
              <a:rPr sz="885" b="1">
                <a:solidFill>
                  <a:srgbClr val="4A5568"/>
                </a:solidFill>
                <a:latin typeface="Arial"/>
              </a:rPr>
              <a:t>a checked non-finding is a result</a:t>
            </a:r>
            <a:r>
              <a:rPr sz="885" b="0">
                <a:solidFill>
                  <a:srgbClr val="4A5568"/>
                </a:solidFill>
                <a:latin typeface="Arial"/>
              </a:rPr>
              <a:t>.</a:t>
            </a:r>
          </a:p>
        </p:txBody>
      </p:sp>
      <p:sp>
        <p:nvSpPr>
          <p:cNvPr id="27" name="Rectangle 26"/>
          <p:cNvSpPr/>
          <p:nvPr/>
        </p:nvSpPr>
        <p:spPr>
          <a:xfrm>
            <a:off x="8763000" y="4781550"/>
            <a:ext cx="3009900" cy="154305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Rectangle 27"/>
          <p:cNvSpPr/>
          <p:nvPr/>
        </p:nvSpPr>
        <p:spPr>
          <a:xfrm>
            <a:off x="8763000" y="4781550"/>
            <a:ext cx="38100" cy="154305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8915400" y="4895850"/>
            <a:ext cx="2781300" cy="114300"/>
          </a:xfrm>
          <a:prstGeom prst="rect">
            <a:avLst/>
          </a:prstGeom>
          <a:noFill/>
        </p:spPr>
        <p:txBody>
          <a:bodyPr wrap="none" lIns="0" rIns="0" tIns="0" bIns="0" anchor="ctr">
            <a:spAutoFit/>
          </a:bodyPr>
          <a:lstStyle/>
          <a:p>
            <a:pPr algn="l">
              <a:lnSpc>
                <a:spcPct val="100000"/>
              </a:lnSpc>
            </a:pPr>
            <a:r>
              <a:rPr sz="712" b="1">
                <a:solidFill>
                  <a:srgbClr val="006FCF"/>
                </a:solidFill>
                <a:latin typeface="Arial"/>
              </a:rPr>
              <a:t>E X A M P L E</a:t>
            </a:r>
          </a:p>
        </p:txBody>
      </p:sp>
      <p:sp>
        <p:nvSpPr>
          <p:cNvPr id="30" name="TextBox 29"/>
          <p:cNvSpPr txBox="1"/>
          <p:nvPr/>
        </p:nvSpPr>
        <p:spPr>
          <a:xfrm>
            <a:off x="8915400" y="5067300"/>
            <a:ext cx="2781300" cy="152400"/>
          </a:xfrm>
          <a:prstGeom prst="rect">
            <a:avLst/>
          </a:prstGeom>
          <a:noFill/>
        </p:spPr>
        <p:txBody>
          <a:bodyPr wrap="square" lIns="0" rIns="0" tIns="0" bIns="0" anchor="t">
            <a:spAutoFit/>
          </a:bodyPr>
          <a:lstStyle/>
          <a:p>
            <a:pPr algn="l">
              <a:lnSpc>
                <a:spcPct val="118000"/>
              </a:lnSpc>
            </a:pPr>
            <a:r>
              <a:rPr sz="937" b="1">
                <a:solidFill>
                  <a:srgbClr val="00175A"/>
                </a:solidFill>
                <a:latin typeface="Arial"/>
              </a:rPr>
              <a:t>The 2025-05 vs 2024-09 mismatch, caught</a:t>
            </a:r>
          </a:p>
        </p:txBody>
      </p:sp>
      <p:sp>
        <p:nvSpPr>
          <p:cNvPr id="31" name="TextBox 30"/>
          <p:cNvSpPr txBox="1"/>
          <p:nvPr/>
        </p:nvSpPr>
        <p:spPr>
          <a:xfrm>
            <a:off x="8915400" y="5257800"/>
            <a:ext cx="2781300" cy="428625"/>
          </a:xfrm>
          <a:prstGeom prst="rect">
            <a:avLst/>
          </a:prstGeom>
          <a:noFill/>
        </p:spPr>
        <p:txBody>
          <a:bodyPr wrap="square" lIns="0" rIns="0" tIns="0" bIns="0" anchor="t">
            <a:spAutoFit/>
          </a:bodyPr>
          <a:lstStyle/>
          <a:p>
            <a:pPr algn="l">
              <a:lnSpc>
                <a:spcPct val="118000"/>
              </a:lnSpc>
            </a:pPr>
            <a:r>
              <a:rPr sz="885" b="0">
                <a:solidFill>
                  <a:srgbClr val="4A5568"/>
                </a:solidFill>
                <a:latin typeface="Arial"/>
              </a:rPr>
              <a:t>Review sees both payloads, spots the windows don’t line up, and re-runs </a:t>
            </a:r>
            <a:r>
              <a:rPr sz="885" b="1">
                <a:solidFill>
                  <a:srgbClr val="4A5568"/>
                </a:solidFill>
                <a:latin typeface="Arial"/>
              </a:rPr>
              <a:t>modeling alone</a:t>
            </a:r>
            <a:r>
              <a:rPr sz="885" b="0">
                <a:solidFill>
                  <a:srgbClr val="4A5568"/>
                </a:solidFill>
                <a:latin typeface="Arial"/>
              </a:rPr>
              <a:t> anchored to </a:t>
            </a:r>
            <a:r>
              <a:rPr sz="885" b="1">
                <a:solidFill>
                  <a:srgbClr val="4A5568"/>
                </a:solidFill>
                <a:latin typeface="Arial"/>
              </a:rPr>
              <a:t>2025-05</a:t>
            </a:r>
            <a:r>
              <a:rPr sz="885" b="0">
                <a:solidFill>
                  <a:srgbClr val="4A5568"/>
                </a:solidFill>
                <a:latin typeface="Arial"/>
              </a:rPr>
              <a:t> — not a whole re-plan.</a:t>
            </a:r>
          </a:p>
        </p:txBody>
      </p:sp>
      <p:sp>
        <p:nvSpPr>
          <p:cNvPr id="32" name="TextBox 31"/>
          <p:cNvSpPr txBox="1"/>
          <p:nvPr/>
        </p:nvSpPr>
        <p:spPr>
          <a:xfrm>
            <a:off x="8915400" y="5734050"/>
            <a:ext cx="2781300" cy="428625"/>
          </a:xfrm>
          <a:prstGeom prst="rect">
            <a:avLst/>
          </a:prstGeom>
          <a:noFill/>
        </p:spPr>
        <p:txBody>
          <a:bodyPr wrap="square" lIns="0" rIns="0" tIns="0" bIns="0" anchor="t">
            <a:spAutoFit/>
          </a:bodyPr>
          <a:lstStyle/>
          <a:p>
            <a:pPr algn="l">
              <a:lnSpc>
                <a:spcPct val="118000"/>
              </a:lnSpc>
            </a:pPr>
            <a:r>
              <a:rPr sz="885" b="0">
                <a:solidFill>
                  <a:srgbClr val="4A5568"/>
                </a:solidFill>
                <a:latin typeface="Arial"/>
              </a:rPr>
              <a:t>Its phase-1 knowledge points are dropped first, so the corrected run doesn’t leave </a:t>
            </a:r>
            <a:r>
              <a:rPr sz="885" b="1">
                <a:solidFill>
                  <a:srgbClr val="4A5568"/>
                </a:solidFill>
                <a:latin typeface="Arial"/>
              </a:rPr>
              <a:t>two contradictory anchors</a:t>
            </a:r>
            <a:r>
              <a:rPr sz="885" b="0">
                <a:solidFill>
                  <a:srgbClr val="4A5568"/>
                </a:solidFill>
                <a:latin typeface="Arial"/>
              </a:rPr>
              <a:t> in memory.</a:t>
            </a:r>
          </a:p>
        </p:txBody>
      </p:sp>
      <p:sp>
        <p:nvSpPr>
          <p:cNvPr id="33" name="TextBox 32"/>
          <p:cNvSpPr txBox="1"/>
          <p:nvPr/>
        </p:nvSpPr>
        <p:spPr>
          <a:xfrm>
            <a:off x="2647950" y="1057275"/>
            <a:ext cx="19050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P A R A L L E L  —  D E F A U L T</a:t>
            </a:r>
          </a:p>
        </p:txBody>
      </p:sp>
      <p:sp>
        <p:nvSpPr>
          <p:cNvPr id="34" name="Rectangle 33"/>
          <p:cNvSpPr/>
          <p:nvPr/>
        </p:nvSpPr>
        <p:spPr>
          <a:xfrm>
            <a:off x="2647950" y="1514475"/>
            <a:ext cx="381000" cy="20955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00" b="1">
                <a:solidFill>
                  <a:srgbClr val="FFFFFF"/>
                </a:solidFill>
                <a:latin typeface="Arial"/>
              </a:rPr>
              <a:t>ORCH</a:t>
            </a:r>
          </a:p>
        </p:txBody>
      </p:sp>
      <p:cxnSp>
        <p:nvCxnSpPr>
          <p:cNvPr id="35" name="Connector 34"/>
          <p:cNvCxnSpPr/>
          <p:nvPr/>
        </p:nvCxnSpPr>
        <p:spPr>
          <a:xfrm flipV="1">
            <a:off x="3028950" y="1419225"/>
            <a:ext cx="171450" cy="200025"/>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028950" y="1619250"/>
            <a:ext cx="171450" cy="0"/>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028950" y="1619250"/>
            <a:ext cx="171450" cy="200025"/>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276600" y="1323975"/>
            <a:ext cx="1181100" cy="161925"/>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3343275" y="1323975"/>
            <a:ext cx="1143000" cy="161925"/>
          </a:xfrm>
          <a:prstGeom prst="rect">
            <a:avLst/>
          </a:prstGeom>
          <a:noFill/>
        </p:spPr>
        <p:txBody>
          <a:bodyPr wrap="none" lIns="0" rIns="0" tIns="0" bIns="0" anchor="ctr">
            <a:spAutoFit/>
          </a:bodyPr>
          <a:lstStyle/>
          <a:p>
            <a:pPr algn="l">
              <a:lnSpc>
                <a:spcPct val="100000"/>
              </a:lnSpc>
            </a:pPr>
            <a:r>
              <a:rPr sz="637" b="0">
                <a:solidFill>
                  <a:srgbClr val="00175A"/>
                </a:solidFill>
                <a:latin typeface="Arial"/>
              </a:rPr>
              <a:t>spend_payments</a:t>
            </a:r>
          </a:p>
        </p:txBody>
      </p:sp>
      <p:sp>
        <p:nvSpPr>
          <p:cNvPr id="40" name="Rectangle 39"/>
          <p:cNvSpPr/>
          <p:nvPr/>
        </p:nvSpPr>
        <p:spPr>
          <a:xfrm>
            <a:off x="3276600" y="1533525"/>
            <a:ext cx="1181100" cy="161925"/>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3343275" y="1533525"/>
            <a:ext cx="1143000" cy="161925"/>
          </a:xfrm>
          <a:prstGeom prst="rect">
            <a:avLst/>
          </a:prstGeom>
          <a:noFill/>
        </p:spPr>
        <p:txBody>
          <a:bodyPr wrap="none" lIns="0" rIns="0" tIns="0" bIns="0" anchor="ctr">
            <a:spAutoFit/>
          </a:bodyPr>
          <a:lstStyle/>
          <a:p>
            <a:pPr algn="l">
              <a:lnSpc>
                <a:spcPct val="100000"/>
              </a:lnSpc>
            </a:pPr>
            <a:r>
              <a:rPr sz="637" b="0">
                <a:solidFill>
                  <a:srgbClr val="00175A"/>
                </a:solidFill>
                <a:latin typeface="Arial"/>
              </a:rPr>
              <a:t>modeling</a:t>
            </a:r>
          </a:p>
        </p:txBody>
      </p:sp>
      <p:sp>
        <p:nvSpPr>
          <p:cNvPr id="42" name="Rectangle 41"/>
          <p:cNvSpPr/>
          <p:nvPr/>
        </p:nvSpPr>
        <p:spPr>
          <a:xfrm>
            <a:off x="3276600" y="1743075"/>
            <a:ext cx="1181100" cy="161925"/>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3343275" y="1743075"/>
            <a:ext cx="1143000" cy="161925"/>
          </a:xfrm>
          <a:prstGeom prst="rect">
            <a:avLst/>
          </a:prstGeom>
          <a:noFill/>
        </p:spPr>
        <p:txBody>
          <a:bodyPr wrap="none" lIns="0" rIns="0" tIns="0" bIns="0" anchor="ctr">
            <a:spAutoFit/>
          </a:bodyPr>
          <a:lstStyle/>
          <a:p>
            <a:pPr algn="l">
              <a:lnSpc>
                <a:spcPct val="100000"/>
              </a:lnSpc>
            </a:pPr>
            <a:r>
              <a:rPr sz="637" b="0">
                <a:solidFill>
                  <a:srgbClr val="00175A"/>
                </a:solidFill>
                <a:latin typeface="Arial"/>
              </a:rPr>
              <a:t>crossbu</a:t>
            </a:r>
          </a:p>
        </p:txBody>
      </p:sp>
      <p:sp>
        <p:nvSpPr>
          <p:cNvPr id="44" name="TextBox 43"/>
          <p:cNvSpPr txBox="1"/>
          <p:nvPr/>
        </p:nvSpPr>
        <p:spPr>
          <a:xfrm>
            <a:off x="2647950" y="1952625"/>
            <a:ext cx="1905000" cy="11430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independent sub-questions</a:t>
            </a:r>
          </a:p>
        </p:txBody>
      </p:sp>
      <p:sp>
        <p:nvSpPr>
          <p:cNvPr id="45" name="TextBox 44"/>
          <p:cNvSpPr txBox="1"/>
          <p:nvPr/>
        </p:nvSpPr>
        <p:spPr>
          <a:xfrm>
            <a:off x="2647950" y="2076450"/>
            <a:ext cx="1905000" cy="1143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one round</a:t>
            </a:r>
          </a:p>
        </p:txBody>
      </p:sp>
      <p:sp>
        <p:nvSpPr>
          <p:cNvPr id="46" name="TextBox 45"/>
          <p:cNvSpPr txBox="1"/>
          <p:nvPr/>
        </p:nvSpPr>
        <p:spPr>
          <a:xfrm>
            <a:off x="4629150" y="1057275"/>
            <a:ext cx="19050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C O L L A P S E</a:t>
            </a:r>
          </a:p>
        </p:txBody>
      </p:sp>
      <p:sp>
        <p:nvSpPr>
          <p:cNvPr id="47" name="Rectangle 46"/>
          <p:cNvSpPr/>
          <p:nvPr/>
        </p:nvSpPr>
        <p:spPr>
          <a:xfrm>
            <a:off x="4629150" y="1514475"/>
            <a:ext cx="381000" cy="20955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00" b="1">
                <a:solidFill>
                  <a:srgbClr val="FFFFFF"/>
                </a:solidFill>
                <a:latin typeface="Arial"/>
              </a:rPr>
              <a:t>ORCH</a:t>
            </a:r>
          </a:p>
        </p:txBody>
      </p:sp>
      <p:cxnSp>
        <p:nvCxnSpPr>
          <p:cNvPr id="48" name="Connector 47"/>
          <p:cNvCxnSpPr/>
          <p:nvPr/>
        </p:nvCxnSpPr>
        <p:spPr>
          <a:xfrm>
            <a:off x="5010150" y="1619250"/>
            <a:ext cx="190500" cy="0"/>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276850" y="1457325"/>
            <a:ext cx="1162050" cy="3238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37" b="1">
                <a:solidFill>
                  <a:srgbClr val="00175A"/>
                </a:solidFill>
                <a:latin typeface="Arial"/>
              </a:rPr>
              <a:t>modeling</a:t>
            </a:r>
          </a:p>
          <a:p>
            <a:pPr algn="ctr">
              <a:lnSpc>
                <a:spcPct val="92000"/>
              </a:lnSpc>
            </a:pPr>
            <a:r>
              <a:rPr sz="600" b="0">
                <a:solidFill>
                  <a:srgbClr val="6B7A90"/>
                </a:solidFill>
                <a:latin typeface="Arial"/>
              </a:rPr>
              <a:t>finds the window itself</a:t>
            </a:r>
          </a:p>
        </p:txBody>
      </p:sp>
      <p:sp>
        <p:nvSpPr>
          <p:cNvPr id="50" name="TextBox 49"/>
          <p:cNvSpPr txBox="1"/>
          <p:nvPr/>
        </p:nvSpPr>
        <p:spPr>
          <a:xfrm>
            <a:off x="5276850" y="1285875"/>
            <a:ext cx="1162050" cy="133350"/>
          </a:xfrm>
          <a:prstGeom prst="rect">
            <a:avLst/>
          </a:prstGeom>
          <a:noFill/>
        </p:spPr>
        <p:txBody>
          <a:bodyPr wrap="none" lIns="0" rIns="0" tIns="0" bIns="0" anchor="ctr">
            <a:spAutoFit/>
          </a:bodyPr>
          <a:lstStyle/>
          <a:p>
            <a:pPr algn="ctr">
              <a:lnSpc>
                <a:spcPct val="100000"/>
              </a:lnSpc>
            </a:pPr>
            <a:r>
              <a:rPr sz="600" b="1">
                <a:solidFill>
                  <a:srgbClr val="006FCF"/>
                </a:solidFill>
                <a:latin typeface="Arial"/>
              </a:rPr>
              <a:t>↺  cross-queries</a:t>
            </a:r>
          </a:p>
        </p:txBody>
      </p:sp>
      <p:sp>
        <p:nvSpPr>
          <p:cNvPr id="51" name="TextBox 50"/>
          <p:cNvSpPr txBox="1"/>
          <p:nvPr/>
        </p:nvSpPr>
        <p:spPr>
          <a:xfrm>
            <a:off x="4629150" y="1952625"/>
            <a:ext cx="1905000" cy="11430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one specialist self-anchors</a:t>
            </a:r>
          </a:p>
        </p:txBody>
      </p:sp>
      <p:sp>
        <p:nvSpPr>
          <p:cNvPr id="52" name="TextBox 51"/>
          <p:cNvSpPr txBox="1"/>
          <p:nvPr/>
        </p:nvSpPr>
        <p:spPr>
          <a:xfrm>
            <a:off x="4629150" y="2076450"/>
            <a:ext cx="1905000" cy="1143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one round, no handoff</a:t>
            </a:r>
          </a:p>
        </p:txBody>
      </p:sp>
      <p:sp>
        <p:nvSpPr>
          <p:cNvPr id="53" name="TextBox 52"/>
          <p:cNvSpPr txBox="1"/>
          <p:nvPr/>
        </p:nvSpPr>
        <p:spPr>
          <a:xfrm>
            <a:off x="6610350" y="1057275"/>
            <a:ext cx="19050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S E Q U E N T I A L</a:t>
            </a:r>
          </a:p>
        </p:txBody>
      </p:sp>
      <p:sp>
        <p:nvSpPr>
          <p:cNvPr id="54" name="Rectangle 53"/>
          <p:cNvSpPr/>
          <p:nvPr/>
        </p:nvSpPr>
        <p:spPr>
          <a:xfrm>
            <a:off x="6610350" y="1514475"/>
            <a:ext cx="762000" cy="2095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37" b="0">
                <a:solidFill>
                  <a:srgbClr val="00175A"/>
                </a:solidFill>
                <a:latin typeface="Arial"/>
              </a:rPr>
              <a:t>spend_payments</a:t>
            </a:r>
          </a:p>
        </p:txBody>
      </p:sp>
      <p:cxnSp>
        <p:nvCxnSpPr>
          <p:cNvPr id="55" name="Connector 54"/>
          <p:cNvCxnSpPr/>
          <p:nvPr/>
        </p:nvCxnSpPr>
        <p:spPr>
          <a:xfrm>
            <a:off x="7372350" y="1619250"/>
            <a:ext cx="228600" cy="0"/>
          </a:xfrm>
          <a:prstGeom prst="line">
            <a:avLst/>
          </a:prstGeom>
          <a:ln w="15875">
            <a:solidFill>
              <a:srgbClr val="006FCF"/>
            </a:solidFill>
            <a:tailEnd type="triangle" w="sm" len="sm"/>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315200" y="1457325"/>
            <a:ext cx="342900" cy="114300"/>
          </a:xfrm>
          <a:prstGeom prst="rect">
            <a:avLst/>
          </a:prstGeom>
          <a:noFill/>
        </p:spPr>
        <p:txBody>
          <a:bodyPr wrap="none" lIns="0" rIns="0" tIns="0" bIns="0" anchor="ctr">
            <a:spAutoFit/>
          </a:bodyPr>
          <a:lstStyle/>
          <a:p>
            <a:pPr algn="ctr">
              <a:lnSpc>
                <a:spcPct val="100000"/>
              </a:lnSpc>
            </a:pPr>
            <a:r>
              <a:rPr sz="600" b="1">
                <a:solidFill>
                  <a:srgbClr val="006FCF"/>
                </a:solidFill>
                <a:latin typeface="Arial"/>
              </a:rPr>
              <a:t>2025-05</a:t>
            </a:r>
          </a:p>
        </p:txBody>
      </p:sp>
      <p:sp>
        <p:nvSpPr>
          <p:cNvPr id="57" name="Rectangle 56"/>
          <p:cNvSpPr/>
          <p:nvPr/>
        </p:nvSpPr>
        <p:spPr>
          <a:xfrm>
            <a:off x="7658100" y="1514475"/>
            <a:ext cx="762000" cy="2095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37" b="0">
                <a:solidFill>
                  <a:srgbClr val="00175A"/>
                </a:solidFill>
                <a:latin typeface="Arial"/>
              </a:rPr>
              <a:t>modeling</a:t>
            </a:r>
          </a:p>
        </p:txBody>
      </p:sp>
      <p:sp>
        <p:nvSpPr>
          <p:cNvPr id="58" name="TextBox 57"/>
          <p:cNvSpPr txBox="1"/>
          <p:nvPr/>
        </p:nvSpPr>
        <p:spPr>
          <a:xfrm>
            <a:off x="6610350" y="1952625"/>
            <a:ext cx="2000250" cy="11430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anchor threaded into the next</a:t>
            </a:r>
          </a:p>
        </p:txBody>
      </p:sp>
      <p:sp>
        <p:nvSpPr>
          <p:cNvPr id="59" name="TextBox 58"/>
          <p:cNvSpPr txBox="1"/>
          <p:nvPr/>
        </p:nvSpPr>
        <p:spPr>
          <a:xfrm>
            <a:off x="6610350" y="2076450"/>
            <a:ext cx="1905000" cy="1143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two rounds</a:t>
            </a:r>
          </a:p>
        </p:txBody>
      </p:sp>
      <p:sp>
        <p:nvSpPr>
          <p:cNvPr id="60" name="TextBox 59"/>
          <p:cNvSpPr txBox="1"/>
          <p:nvPr/>
        </p:nvSpPr>
        <p:spPr>
          <a:xfrm>
            <a:off x="2647950" y="2981325"/>
            <a:ext cx="24765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M I N I M A L  —  A N S W E R - D R I V E N</a:t>
            </a:r>
          </a:p>
        </p:txBody>
      </p:sp>
      <p:sp>
        <p:nvSpPr>
          <p:cNvPr id="61" name="Rectangle 60"/>
          <p:cNvSpPr/>
          <p:nvPr/>
        </p:nvSpPr>
        <p:spPr>
          <a:xfrm>
            <a:off x="2647950" y="3476625"/>
            <a:ext cx="381000" cy="20955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00" b="1">
                <a:solidFill>
                  <a:srgbClr val="FFFFFF"/>
                </a:solidFill>
                <a:latin typeface="Arial"/>
              </a:rPr>
              <a:t>ORCH</a:t>
            </a:r>
          </a:p>
        </p:txBody>
      </p:sp>
      <p:cxnSp>
        <p:nvCxnSpPr>
          <p:cNvPr id="62" name="Connector 61"/>
          <p:cNvCxnSpPr/>
          <p:nvPr/>
        </p:nvCxnSpPr>
        <p:spPr>
          <a:xfrm>
            <a:off x="3028950" y="3581400"/>
            <a:ext cx="209550" cy="0"/>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3314700" y="3476625"/>
            <a:ext cx="1428750" cy="2095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4" name="TextBox 63"/>
          <p:cNvSpPr txBox="1"/>
          <p:nvPr/>
        </p:nvSpPr>
        <p:spPr>
          <a:xfrm>
            <a:off x="3381375" y="3476625"/>
            <a:ext cx="1143000" cy="209550"/>
          </a:xfrm>
          <a:prstGeom prst="rect">
            <a:avLst/>
          </a:prstGeom>
          <a:noFill/>
        </p:spPr>
        <p:txBody>
          <a:bodyPr wrap="none" lIns="0" rIns="0" tIns="0" bIns="0" anchor="ctr">
            <a:spAutoFit/>
          </a:bodyPr>
          <a:lstStyle/>
          <a:p>
            <a:pPr algn="l">
              <a:lnSpc>
                <a:spcPct val="100000"/>
              </a:lnSpc>
            </a:pPr>
            <a:r>
              <a:rPr sz="637" b="0">
                <a:solidFill>
                  <a:srgbClr val="00175A"/>
                </a:solidFill>
                <a:latin typeface="Arial"/>
              </a:rPr>
              <a:t>bureau</a:t>
            </a:r>
          </a:p>
        </p:txBody>
      </p:sp>
      <p:sp>
        <p:nvSpPr>
          <p:cNvPr id="65" name="TextBox 64"/>
          <p:cNvSpPr txBox="1"/>
          <p:nvPr/>
        </p:nvSpPr>
        <p:spPr>
          <a:xfrm>
            <a:off x="4819650" y="3476625"/>
            <a:ext cx="1143000" cy="209550"/>
          </a:xfrm>
          <a:prstGeom prst="rect">
            <a:avLst/>
          </a:prstGeom>
          <a:noFill/>
        </p:spPr>
        <p:txBody>
          <a:bodyPr wrap="none" lIns="0" rIns="0" tIns="0" bIns="0" anchor="ctr">
            <a:spAutoFit/>
          </a:bodyPr>
          <a:lstStyle/>
          <a:p>
            <a:pPr algn="l">
              <a:lnSpc>
                <a:spcPct val="100000"/>
              </a:lnSpc>
            </a:pPr>
            <a:r>
              <a:rPr sz="637" b="0">
                <a:solidFill>
                  <a:srgbClr val="6B7A90"/>
                </a:solidFill>
                <a:latin typeface="Arial"/>
              </a:rPr>
              <a:t>fetch a number</a:t>
            </a:r>
          </a:p>
        </p:txBody>
      </p:sp>
      <p:sp>
        <p:nvSpPr>
          <p:cNvPr id="66" name="TextBox 65"/>
          <p:cNvSpPr txBox="1"/>
          <p:nvPr/>
        </p:nvSpPr>
        <p:spPr>
          <a:xfrm>
            <a:off x="2647950" y="3876675"/>
            <a:ext cx="2286000" cy="11430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every pick carries weight —</a:t>
            </a:r>
          </a:p>
        </p:txBody>
      </p:sp>
      <p:sp>
        <p:nvSpPr>
          <p:cNvPr id="67" name="TextBox 66"/>
          <p:cNvSpPr txBox="1"/>
          <p:nvPr/>
        </p:nvSpPr>
        <p:spPr>
          <a:xfrm>
            <a:off x="2647950" y="4000500"/>
            <a:ext cx="2286000" cy="1143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no “in case relevant”</a:t>
            </a:r>
          </a:p>
        </p:txBody>
      </p:sp>
      <p:sp>
        <p:nvSpPr>
          <p:cNvPr id="68" name="TextBox 67"/>
          <p:cNvSpPr txBox="1"/>
          <p:nvPr/>
        </p:nvSpPr>
        <p:spPr>
          <a:xfrm>
            <a:off x="5505450" y="2981325"/>
            <a:ext cx="28575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M A X I M A L  —  D I S C O V E R Y - D R I V E N</a:t>
            </a:r>
          </a:p>
        </p:txBody>
      </p:sp>
      <p:sp>
        <p:nvSpPr>
          <p:cNvPr id="69" name="Rectangle 68"/>
          <p:cNvSpPr/>
          <p:nvPr/>
        </p:nvSpPr>
        <p:spPr>
          <a:xfrm>
            <a:off x="5505450" y="3267075"/>
            <a:ext cx="381000" cy="45720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00" b="1">
                <a:solidFill>
                  <a:srgbClr val="FFFFFF"/>
                </a:solidFill>
                <a:latin typeface="Arial"/>
              </a:rPr>
              <a:t>ORCH</a:t>
            </a:r>
          </a:p>
        </p:txBody>
      </p:sp>
      <p:cxnSp>
        <p:nvCxnSpPr>
          <p:cNvPr id="70" name="Connector 69"/>
          <p:cNvCxnSpPr/>
          <p:nvPr/>
        </p:nvCxnSpPr>
        <p:spPr>
          <a:xfrm flipV="1">
            <a:off x="5886450" y="3219450"/>
            <a:ext cx="171450" cy="276225"/>
          </a:xfrm>
          <a:prstGeom prst="line">
            <a:avLst/>
          </a:prstGeom>
          <a:ln w="1143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886450" y="3419475"/>
            <a:ext cx="171450" cy="76200"/>
          </a:xfrm>
          <a:prstGeom prst="line">
            <a:avLst/>
          </a:prstGeom>
          <a:ln w="1143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5886450" y="3495675"/>
            <a:ext cx="171450" cy="123825"/>
          </a:xfrm>
          <a:prstGeom prst="line">
            <a:avLst/>
          </a:prstGeom>
          <a:ln w="1143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886450" y="3495675"/>
            <a:ext cx="171450" cy="323850"/>
          </a:xfrm>
          <a:prstGeom prst="line">
            <a:avLst/>
          </a:prstGeom>
          <a:ln w="1143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6115050" y="3133725"/>
            <a:ext cx="2305050" cy="161925"/>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5" name="TextBox 74"/>
          <p:cNvSpPr txBox="1"/>
          <p:nvPr/>
        </p:nvSpPr>
        <p:spPr>
          <a:xfrm>
            <a:off x="6172200" y="3133725"/>
            <a:ext cx="857250" cy="161925"/>
          </a:xfrm>
          <a:prstGeom prst="rect">
            <a:avLst/>
          </a:prstGeom>
          <a:noFill/>
        </p:spPr>
        <p:txBody>
          <a:bodyPr wrap="none" lIns="0" rIns="0" tIns="0" bIns="0" anchor="ctr">
            <a:spAutoFit/>
          </a:bodyPr>
          <a:lstStyle/>
          <a:p>
            <a:pPr algn="l">
              <a:lnSpc>
                <a:spcPct val="100000"/>
              </a:lnSpc>
            </a:pPr>
            <a:r>
              <a:rPr sz="637" b="1">
                <a:solidFill>
                  <a:srgbClr val="00175A"/>
                </a:solidFill>
                <a:latin typeface="Arial"/>
              </a:rPr>
              <a:t>modeling</a:t>
            </a:r>
          </a:p>
        </p:txBody>
      </p:sp>
      <p:sp>
        <p:nvSpPr>
          <p:cNvPr id="76" name="TextBox 75"/>
          <p:cNvSpPr txBox="1"/>
          <p:nvPr/>
        </p:nvSpPr>
        <p:spPr>
          <a:xfrm>
            <a:off x="6838950" y="3133725"/>
            <a:ext cx="1619250" cy="161925"/>
          </a:xfrm>
          <a:prstGeom prst="rect">
            <a:avLst/>
          </a:prstGeom>
          <a:noFill/>
        </p:spPr>
        <p:txBody>
          <a:bodyPr wrap="none" lIns="0" rIns="0" tIns="0" bIns="0" anchor="ctr">
            <a:spAutoFit/>
          </a:bodyPr>
          <a:lstStyle/>
          <a:p>
            <a:pPr algn="l">
              <a:lnSpc>
                <a:spcPct val="100000"/>
              </a:lnSpc>
            </a:pPr>
            <a:r>
              <a:rPr sz="637" b="0">
                <a:solidFill>
                  <a:srgbClr val="6B7A90"/>
                </a:solidFill>
                <a:latin typeface="Arial"/>
              </a:rPr>
              <a:t>a score that lagged the deterioration</a:t>
            </a:r>
          </a:p>
        </p:txBody>
      </p:sp>
      <p:sp>
        <p:nvSpPr>
          <p:cNvPr id="77" name="Rectangle 76"/>
          <p:cNvSpPr/>
          <p:nvPr/>
        </p:nvSpPr>
        <p:spPr>
          <a:xfrm>
            <a:off x="6115050" y="3333750"/>
            <a:ext cx="2305050" cy="161925"/>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8" name="TextBox 77"/>
          <p:cNvSpPr txBox="1"/>
          <p:nvPr/>
        </p:nvSpPr>
        <p:spPr>
          <a:xfrm>
            <a:off x="6172200" y="3333750"/>
            <a:ext cx="857250" cy="161925"/>
          </a:xfrm>
          <a:prstGeom prst="rect">
            <a:avLst/>
          </a:prstGeom>
          <a:noFill/>
        </p:spPr>
        <p:txBody>
          <a:bodyPr wrap="none" lIns="0" rIns="0" tIns="0" bIns="0" anchor="ctr">
            <a:spAutoFit/>
          </a:bodyPr>
          <a:lstStyle/>
          <a:p>
            <a:pPr algn="l">
              <a:lnSpc>
                <a:spcPct val="100000"/>
              </a:lnSpc>
            </a:pPr>
            <a:r>
              <a:rPr sz="637" b="1">
                <a:solidFill>
                  <a:srgbClr val="00175A"/>
                </a:solidFill>
                <a:latin typeface="Arial"/>
              </a:rPr>
              <a:t>spend_payments</a:t>
            </a:r>
          </a:p>
        </p:txBody>
      </p:sp>
      <p:sp>
        <p:nvSpPr>
          <p:cNvPr id="79" name="TextBox 78"/>
          <p:cNvSpPr txBox="1"/>
          <p:nvPr/>
        </p:nvSpPr>
        <p:spPr>
          <a:xfrm>
            <a:off x="6972300" y="3333750"/>
            <a:ext cx="1619250" cy="161925"/>
          </a:xfrm>
          <a:prstGeom prst="rect">
            <a:avLst/>
          </a:prstGeom>
          <a:noFill/>
        </p:spPr>
        <p:txBody>
          <a:bodyPr wrap="none" lIns="0" rIns="0" tIns="0" bIns="0" anchor="ctr">
            <a:spAutoFit/>
          </a:bodyPr>
          <a:lstStyle/>
          <a:p>
            <a:pPr algn="l">
              <a:lnSpc>
                <a:spcPct val="100000"/>
              </a:lnSpc>
            </a:pPr>
            <a:r>
              <a:rPr sz="637" b="0">
                <a:solidFill>
                  <a:srgbClr val="6B7A90"/>
                </a:solidFill>
                <a:latin typeface="Arial"/>
              </a:rPr>
              <a:t>behaviour that moved first</a:t>
            </a:r>
          </a:p>
        </p:txBody>
      </p:sp>
      <p:sp>
        <p:nvSpPr>
          <p:cNvPr id="80" name="Rectangle 79"/>
          <p:cNvSpPr/>
          <p:nvPr/>
        </p:nvSpPr>
        <p:spPr>
          <a:xfrm>
            <a:off x="6115050" y="3533775"/>
            <a:ext cx="2305050" cy="161925"/>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1" name="TextBox 80"/>
          <p:cNvSpPr txBox="1"/>
          <p:nvPr/>
        </p:nvSpPr>
        <p:spPr>
          <a:xfrm>
            <a:off x="6172200" y="3533775"/>
            <a:ext cx="857250" cy="161925"/>
          </a:xfrm>
          <a:prstGeom prst="rect">
            <a:avLst/>
          </a:prstGeom>
          <a:noFill/>
        </p:spPr>
        <p:txBody>
          <a:bodyPr wrap="none" lIns="0" rIns="0" tIns="0" bIns="0" anchor="ctr">
            <a:spAutoFit/>
          </a:bodyPr>
          <a:lstStyle/>
          <a:p>
            <a:pPr algn="l">
              <a:lnSpc>
                <a:spcPct val="100000"/>
              </a:lnSpc>
            </a:pPr>
            <a:r>
              <a:rPr sz="637" b="1">
                <a:solidFill>
                  <a:srgbClr val="00175A"/>
                </a:solidFill>
                <a:latin typeface="Arial"/>
              </a:rPr>
              <a:t>bureau</a:t>
            </a:r>
          </a:p>
        </p:txBody>
      </p:sp>
      <p:sp>
        <p:nvSpPr>
          <p:cNvPr id="82" name="TextBox 81"/>
          <p:cNvSpPr txBox="1"/>
          <p:nvPr/>
        </p:nvSpPr>
        <p:spPr>
          <a:xfrm>
            <a:off x="6838950" y="3533775"/>
            <a:ext cx="1619250" cy="161925"/>
          </a:xfrm>
          <a:prstGeom prst="rect">
            <a:avLst/>
          </a:prstGeom>
          <a:noFill/>
        </p:spPr>
        <p:txBody>
          <a:bodyPr wrap="none" lIns="0" rIns="0" tIns="0" bIns="0" anchor="ctr">
            <a:spAutoFit/>
          </a:bodyPr>
          <a:lstStyle/>
          <a:p>
            <a:pPr algn="l">
              <a:lnSpc>
                <a:spcPct val="100000"/>
              </a:lnSpc>
            </a:pPr>
            <a:r>
              <a:rPr sz="637" b="0">
                <a:solidFill>
                  <a:srgbClr val="6B7A90"/>
                </a:solidFill>
                <a:latin typeface="Arial"/>
              </a:rPr>
              <a:t>did external call it earlier?</a:t>
            </a:r>
          </a:p>
        </p:txBody>
      </p:sp>
      <p:sp>
        <p:nvSpPr>
          <p:cNvPr id="83" name="Rectangle 82"/>
          <p:cNvSpPr/>
          <p:nvPr/>
        </p:nvSpPr>
        <p:spPr>
          <a:xfrm>
            <a:off x="6115050" y="3733800"/>
            <a:ext cx="2305050" cy="161925"/>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4" name="TextBox 83"/>
          <p:cNvSpPr txBox="1"/>
          <p:nvPr/>
        </p:nvSpPr>
        <p:spPr>
          <a:xfrm>
            <a:off x="6172200" y="3733800"/>
            <a:ext cx="857250" cy="161925"/>
          </a:xfrm>
          <a:prstGeom prst="rect">
            <a:avLst/>
          </a:prstGeom>
          <a:noFill/>
        </p:spPr>
        <p:txBody>
          <a:bodyPr wrap="none" lIns="0" rIns="0" tIns="0" bIns="0" anchor="ctr">
            <a:spAutoFit/>
          </a:bodyPr>
          <a:lstStyle/>
          <a:p>
            <a:pPr algn="l">
              <a:lnSpc>
                <a:spcPct val="100000"/>
              </a:lnSpc>
            </a:pPr>
            <a:r>
              <a:rPr sz="637" b="1">
                <a:solidFill>
                  <a:srgbClr val="00175A"/>
                </a:solidFill>
                <a:latin typeface="Arial"/>
              </a:rPr>
              <a:t>crossbu</a:t>
            </a:r>
          </a:p>
        </p:txBody>
      </p:sp>
      <p:sp>
        <p:nvSpPr>
          <p:cNvPr id="85" name="TextBox 84"/>
          <p:cNvSpPr txBox="1"/>
          <p:nvPr/>
        </p:nvSpPr>
        <p:spPr>
          <a:xfrm>
            <a:off x="6838950" y="3733800"/>
            <a:ext cx="1619250" cy="161925"/>
          </a:xfrm>
          <a:prstGeom prst="rect">
            <a:avLst/>
          </a:prstGeom>
          <a:noFill/>
        </p:spPr>
        <p:txBody>
          <a:bodyPr wrap="none" lIns="0" rIns="0" tIns="0" bIns="0" anchor="ctr">
            <a:spAutoFit/>
          </a:bodyPr>
          <a:lstStyle/>
          <a:p>
            <a:pPr algn="l">
              <a:lnSpc>
                <a:spcPct val="100000"/>
              </a:lnSpc>
            </a:pPr>
            <a:r>
              <a:rPr sz="637" b="0">
                <a:solidFill>
                  <a:srgbClr val="6B7A90"/>
                </a:solidFill>
                <a:latin typeface="Arial"/>
              </a:rPr>
              <a:t>exposure the scoring can’t see</a:t>
            </a:r>
          </a:p>
        </p:txBody>
      </p:sp>
      <p:sp>
        <p:nvSpPr>
          <p:cNvPr id="86" name="TextBox 85"/>
          <p:cNvSpPr txBox="1"/>
          <p:nvPr/>
        </p:nvSpPr>
        <p:spPr>
          <a:xfrm>
            <a:off x="5505450" y="3933825"/>
            <a:ext cx="2857500" cy="11430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4+ in parallel, one round —</a:t>
            </a:r>
          </a:p>
        </p:txBody>
      </p:sp>
      <p:sp>
        <p:nvSpPr>
          <p:cNvPr id="87" name="TextBox 86"/>
          <p:cNvSpPr txBox="1"/>
          <p:nvPr/>
        </p:nvSpPr>
        <p:spPr>
          <a:xfrm>
            <a:off x="5505450" y="4057650"/>
            <a:ext cx="3048000" cy="1143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orthogonal directions, not duplicate votes</a:t>
            </a:r>
          </a:p>
        </p:txBody>
      </p:sp>
      <p:sp>
        <p:nvSpPr>
          <p:cNvPr id="88" name="TextBox 87"/>
          <p:cNvSpPr txBox="1"/>
          <p:nvPr/>
        </p:nvSpPr>
        <p:spPr>
          <a:xfrm>
            <a:off x="2647950" y="4905375"/>
            <a:ext cx="28575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F I R E S  O N  ≥ 2  S P E C I A L I S T S</a:t>
            </a:r>
          </a:p>
        </p:txBody>
      </p:sp>
      <p:sp>
        <p:nvSpPr>
          <p:cNvPr id="89" name="Rectangle 88"/>
          <p:cNvSpPr/>
          <p:nvPr/>
        </p:nvSpPr>
        <p:spPr>
          <a:xfrm>
            <a:off x="2647950" y="5210175"/>
            <a:ext cx="990600" cy="1714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0" name="TextBox 89"/>
          <p:cNvSpPr txBox="1"/>
          <p:nvPr/>
        </p:nvSpPr>
        <p:spPr>
          <a:xfrm>
            <a:off x="2714625" y="5210175"/>
            <a:ext cx="1143000" cy="171450"/>
          </a:xfrm>
          <a:prstGeom prst="rect">
            <a:avLst/>
          </a:prstGeom>
          <a:noFill/>
        </p:spPr>
        <p:txBody>
          <a:bodyPr wrap="none" lIns="0" rIns="0" tIns="0" bIns="0" anchor="ctr">
            <a:spAutoFit/>
          </a:bodyPr>
          <a:lstStyle/>
          <a:p>
            <a:pPr algn="l">
              <a:lnSpc>
                <a:spcPct val="100000"/>
              </a:lnSpc>
            </a:pPr>
            <a:r>
              <a:rPr sz="637" b="0">
                <a:solidFill>
                  <a:srgbClr val="00175A"/>
                </a:solidFill>
                <a:latin typeface="Arial"/>
              </a:rPr>
              <a:t>spend_payments</a:t>
            </a:r>
          </a:p>
        </p:txBody>
      </p:sp>
      <p:sp>
        <p:nvSpPr>
          <p:cNvPr id="91" name="Rectangle 90"/>
          <p:cNvSpPr/>
          <p:nvPr/>
        </p:nvSpPr>
        <p:spPr>
          <a:xfrm>
            <a:off x="2647950" y="5438775"/>
            <a:ext cx="990600" cy="1714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2" name="TextBox 91"/>
          <p:cNvSpPr txBox="1"/>
          <p:nvPr/>
        </p:nvSpPr>
        <p:spPr>
          <a:xfrm>
            <a:off x="2714625" y="5438775"/>
            <a:ext cx="1143000" cy="171450"/>
          </a:xfrm>
          <a:prstGeom prst="rect">
            <a:avLst/>
          </a:prstGeom>
          <a:noFill/>
        </p:spPr>
        <p:txBody>
          <a:bodyPr wrap="none" lIns="0" rIns="0" tIns="0" bIns="0" anchor="ctr">
            <a:spAutoFit/>
          </a:bodyPr>
          <a:lstStyle/>
          <a:p>
            <a:pPr algn="l">
              <a:lnSpc>
                <a:spcPct val="100000"/>
              </a:lnSpc>
            </a:pPr>
            <a:r>
              <a:rPr sz="637" b="0">
                <a:solidFill>
                  <a:srgbClr val="00175A"/>
                </a:solidFill>
                <a:latin typeface="Arial"/>
              </a:rPr>
              <a:t>modeling</a:t>
            </a:r>
          </a:p>
        </p:txBody>
      </p:sp>
      <p:cxnSp>
        <p:nvCxnSpPr>
          <p:cNvPr id="93" name="Connector 92"/>
          <p:cNvCxnSpPr/>
          <p:nvPr/>
        </p:nvCxnSpPr>
        <p:spPr>
          <a:xfrm>
            <a:off x="3638550" y="5295900"/>
            <a:ext cx="247650" cy="76200"/>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638550" y="5448300"/>
            <a:ext cx="247650" cy="76200"/>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3962400" y="5210175"/>
            <a:ext cx="1066800" cy="40005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37" b="1">
                <a:solidFill>
                  <a:srgbClr val="FFFFFF"/>
                </a:solidFill>
                <a:latin typeface="Arial"/>
              </a:rPr>
              <a:t>general_specialist</a:t>
            </a:r>
          </a:p>
          <a:p>
            <a:pPr algn="ctr">
              <a:lnSpc>
                <a:spcPct val="92000"/>
              </a:lnSpc>
            </a:pPr>
            <a:r>
              <a:rPr sz="562" b="0">
                <a:solidFill>
                  <a:srgbClr val="9CC4E8"/>
                </a:solidFill>
                <a:latin typeface="Arial"/>
              </a:rPr>
              <a:t>verify-only tools</a:t>
            </a:r>
          </a:p>
        </p:txBody>
      </p:sp>
      <p:cxnSp>
        <p:nvCxnSpPr>
          <p:cNvPr id="96" name="Connector 95"/>
          <p:cNvCxnSpPr/>
          <p:nvPr/>
        </p:nvCxnSpPr>
        <p:spPr>
          <a:xfrm>
            <a:off x="5029200" y="5410200"/>
            <a:ext cx="247650" cy="0"/>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97" name="Rectangle 96"/>
          <p:cNvSpPr/>
          <p:nvPr/>
        </p:nvSpPr>
        <p:spPr>
          <a:xfrm>
            <a:off x="5353050" y="5057775"/>
            <a:ext cx="2076450" cy="704850"/>
          </a:xfrm>
          <a:prstGeom prst="rect">
            <a:avLst/>
          </a:prstGeom>
          <a:solidFill>
            <a:srgbClr val="FFFFFF"/>
          </a:solidFill>
          <a:ln w="9525">
            <a:solidFill>
              <a:srgbClr val="006FC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8" name="TextBox 97"/>
          <p:cNvSpPr txBox="1"/>
          <p:nvPr/>
        </p:nvSpPr>
        <p:spPr>
          <a:xfrm>
            <a:off x="5448300" y="5114925"/>
            <a:ext cx="1143000" cy="114300"/>
          </a:xfrm>
          <a:prstGeom prst="rect">
            <a:avLst/>
          </a:prstGeom>
          <a:noFill/>
        </p:spPr>
        <p:txBody>
          <a:bodyPr wrap="none" lIns="0" rIns="0" tIns="0" bIns="0" anchor="ctr">
            <a:spAutoFit/>
          </a:bodyPr>
          <a:lstStyle/>
          <a:p>
            <a:pPr algn="l">
              <a:lnSpc>
                <a:spcPct val="100000"/>
              </a:lnSpc>
            </a:pPr>
            <a:r>
              <a:rPr sz="600" b="1">
                <a:solidFill>
                  <a:srgbClr val="006FCF"/>
                </a:solidFill>
                <a:latin typeface="Arial"/>
              </a:rPr>
              <a:t>D I R E C T I V E</a:t>
            </a:r>
          </a:p>
        </p:txBody>
      </p:sp>
      <p:sp>
        <p:nvSpPr>
          <p:cNvPr id="99" name="Rectangle 98"/>
          <p:cNvSpPr/>
          <p:nvPr/>
        </p:nvSpPr>
        <p:spPr>
          <a:xfrm>
            <a:off x="5448300" y="5248275"/>
            <a:ext cx="47625" cy="47625"/>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0" name="TextBox 99"/>
          <p:cNvSpPr txBox="1"/>
          <p:nvPr/>
        </p:nvSpPr>
        <p:spPr>
          <a:xfrm>
            <a:off x="5553075" y="5210175"/>
            <a:ext cx="1905000" cy="123825"/>
          </a:xfrm>
          <a:prstGeom prst="rect">
            <a:avLst/>
          </a:prstGeom>
          <a:noFill/>
        </p:spPr>
        <p:txBody>
          <a:bodyPr wrap="none" lIns="0" rIns="0" tIns="0" bIns="0" anchor="ctr">
            <a:spAutoFit/>
          </a:bodyPr>
          <a:lstStyle/>
          <a:p>
            <a:pPr algn="l">
              <a:lnSpc>
                <a:spcPct val="100000"/>
              </a:lnSpc>
            </a:pPr>
            <a:r>
              <a:rPr sz="637" b="0">
                <a:solidFill>
                  <a:srgbClr val="0A5C42"/>
                </a:solidFill>
                <a:latin typeface="Arial"/>
              </a:rPr>
              <a:t>coherent — ship it</a:t>
            </a:r>
          </a:p>
        </p:txBody>
      </p:sp>
      <p:sp>
        <p:nvSpPr>
          <p:cNvPr id="101" name="Rectangle 100"/>
          <p:cNvSpPr/>
          <p:nvPr/>
        </p:nvSpPr>
        <p:spPr>
          <a:xfrm>
            <a:off x="5448300" y="5419725"/>
            <a:ext cx="47625" cy="47625"/>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2" name="TextBox 101"/>
          <p:cNvSpPr txBox="1"/>
          <p:nvPr/>
        </p:nvSpPr>
        <p:spPr>
          <a:xfrm>
            <a:off x="5553075" y="5381625"/>
            <a:ext cx="1905000" cy="123825"/>
          </a:xfrm>
          <a:prstGeom prst="rect">
            <a:avLst/>
          </a:prstGeom>
          <a:noFill/>
        </p:spPr>
        <p:txBody>
          <a:bodyPr wrap="none" lIns="0" rIns="0" tIns="0" bIns="0" anchor="ctr">
            <a:spAutoFit/>
          </a:bodyPr>
          <a:lstStyle/>
          <a:p>
            <a:pPr algn="l">
              <a:lnSpc>
                <a:spcPct val="100000"/>
              </a:lnSpc>
            </a:pPr>
            <a:r>
              <a:rPr sz="637" b="1">
                <a:solidFill>
                  <a:srgbClr val="00175A"/>
                </a:solidFill>
                <a:latin typeface="Arial"/>
              </a:rPr>
              <a:t>needs_redispatch — re-run ONE, anchored</a:t>
            </a:r>
          </a:p>
        </p:txBody>
      </p:sp>
      <p:sp>
        <p:nvSpPr>
          <p:cNvPr id="103" name="Rectangle 102"/>
          <p:cNvSpPr/>
          <p:nvPr/>
        </p:nvSpPr>
        <p:spPr>
          <a:xfrm>
            <a:off x="5448300" y="5591175"/>
            <a:ext cx="47625" cy="47625"/>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4" name="TextBox 103"/>
          <p:cNvSpPr txBox="1"/>
          <p:nvPr/>
        </p:nvSpPr>
        <p:spPr>
          <a:xfrm>
            <a:off x="5553075" y="5553075"/>
            <a:ext cx="1905000" cy="123825"/>
          </a:xfrm>
          <a:prstGeom prst="rect">
            <a:avLst/>
          </a:prstGeom>
          <a:noFill/>
        </p:spPr>
        <p:txBody>
          <a:bodyPr wrap="none" lIns="0" rIns="0" tIns="0" bIns="0" anchor="ctr">
            <a:spAutoFit/>
          </a:bodyPr>
          <a:lstStyle/>
          <a:p>
            <a:pPr algn="l">
              <a:lnSpc>
                <a:spcPct val="100000"/>
              </a:lnSpc>
            </a:pPr>
            <a:r>
              <a:rPr sz="637" b="0">
                <a:solidFill>
                  <a:srgbClr val="4A5568"/>
                </a:solidFill>
                <a:latin typeface="Arial"/>
              </a:rPr>
              <a:t>qualified_release — ship with a flag</a:t>
            </a:r>
          </a:p>
        </p:txBody>
      </p:sp>
      <p:cxnSp>
        <p:nvCxnSpPr>
          <p:cNvPr id="105" name="Connector 104"/>
          <p:cNvCxnSpPr/>
          <p:nvPr/>
        </p:nvCxnSpPr>
        <p:spPr>
          <a:xfrm>
            <a:off x="7429500" y="5410200"/>
            <a:ext cx="228600" cy="0"/>
          </a:xfrm>
          <a:prstGeom prst="line">
            <a:avLst/>
          </a:prstGeom>
          <a:ln w="15875">
            <a:solidFill>
              <a:srgbClr val="006FCF"/>
            </a:solidFill>
            <a:tailEnd type="triangle" w="sm" len="sm"/>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7734300" y="5305425"/>
            <a:ext cx="685800" cy="2095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37" b="1">
                <a:solidFill>
                  <a:srgbClr val="00175A"/>
                </a:solidFill>
                <a:latin typeface="Arial"/>
              </a:rPr>
              <a:t>synthesize</a:t>
            </a:r>
          </a:p>
        </p:txBody>
      </p:sp>
      <p:sp>
        <p:nvSpPr>
          <p:cNvPr id="107" name="TextBox 106"/>
          <p:cNvSpPr txBox="1"/>
          <p:nvPr/>
        </p:nvSpPr>
        <p:spPr>
          <a:xfrm>
            <a:off x="2647950" y="5857875"/>
            <a:ext cx="5772150" cy="11430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it re-measures, it never dispatches — the directive is advisory and the orchestrator acts on it</a:t>
            </a:r>
          </a:p>
        </p:txBody>
      </p:sp>
      <p:sp>
        <p:nvSpPr>
          <p:cNvPr id="108" name="TextBox 107"/>
          <p:cNvSpPr txBox="1"/>
          <p:nvPr/>
        </p:nvSpPr>
        <p:spPr>
          <a:xfrm>
            <a:off x="2647950" y="5981700"/>
            <a:ext cx="5772150" cy="1143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capped at 2 rounds · any reviewer failure degrades to the answer we already had</a:t>
            </a:r>
          </a:p>
        </p:txBody>
      </p:sp>
      <p:cxnSp>
        <p:nvCxnSpPr>
          <p:cNvPr id="109" name="Connector 108"/>
          <p:cNvCxnSpPr/>
          <p:nvPr/>
        </p:nvCxnSpPr>
        <p:spPr>
          <a:xfrm>
            <a:off x="419100" y="264795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419100" y="457200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419100" y="649605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419100" y="6572250"/>
            <a:ext cx="11353800" cy="152400"/>
          </a:xfrm>
          <a:prstGeom prst="rect">
            <a:avLst/>
          </a:prstGeom>
          <a:noFill/>
        </p:spPr>
        <p:txBody>
          <a:bodyPr wrap="none" lIns="0" rIns="0" tIns="0" bIns="0" anchor="ctr">
            <a:spAutoFit/>
          </a:bodyPr>
          <a:lstStyle/>
          <a:p>
            <a:pPr algn="ctr">
              <a:lnSpc>
                <a:spcPct val="100000"/>
              </a:lnSpc>
            </a:pPr>
            <a:r>
              <a:rPr sz="862" b="0">
                <a:solidFill>
                  <a:srgbClr val="6B7A90"/>
                </a:solidFill>
                <a:latin typeface="Arial"/>
              </a:rPr>
              <a:t>One question, three decisions: </a:t>
            </a:r>
            <a:r>
              <a:rPr sz="862" b="1">
                <a:solidFill>
                  <a:srgbClr val="6B7A90"/>
                </a:solidFill>
                <a:latin typeface="Arial"/>
              </a:rPr>
              <a:t>what shape</a:t>
            </a:r>
            <a:r>
              <a:rPr sz="862" b="0">
                <a:solidFill>
                  <a:srgbClr val="6B7A90"/>
                </a:solidFill>
                <a:latin typeface="Arial"/>
              </a:rPr>
              <a:t>, </a:t>
            </a:r>
            <a:r>
              <a:rPr sz="862" b="1">
                <a:solidFill>
                  <a:srgbClr val="6B7A90"/>
                </a:solidFill>
                <a:latin typeface="Arial"/>
              </a:rPr>
              <a:t>how many</a:t>
            </a:r>
            <a:r>
              <a:rPr sz="862" b="0">
                <a:solidFill>
                  <a:srgbClr val="6B7A90"/>
                </a:solidFill>
                <a:latin typeface="Arial"/>
              </a:rPr>
              <a:t>, and </a:t>
            </a:r>
            <a:r>
              <a:rPr sz="862" b="1">
                <a:solidFill>
                  <a:srgbClr val="6B7A90"/>
                </a:solidFill>
                <a:latin typeface="Arial"/>
              </a:rPr>
              <a:t>who checks the result</a:t>
            </a:r>
            <a:r>
              <a:rPr sz="862" b="0">
                <a:solidFill>
                  <a:srgbClr val="6B7A90"/>
                </a:solidFill>
                <a:latin typeface="Arial"/>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47625"/>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419100" y="209550"/>
            <a:ext cx="10477500" cy="400050"/>
          </a:xfrm>
          <a:prstGeom prst="rect">
            <a:avLst/>
          </a:prstGeom>
          <a:noFill/>
        </p:spPr>
        <p:txBody>
          <a:bodyPr wrap="none" lIns="0" rIns="0" tIns="0" bIns="0" anchor="ctr">
            <a:spAutoFit/>
          </a:bodyPr>
          <a:lstStyle/>
          <a:p>
            <a:pPr algn="l">
              <a:lnSpc>
                <a:spcPct val="100000"/>
              </a:lnSpc>
            </a:pPr>
            <a:r>
              <a:rPr sz="2400" b="1">
                <a:solidFill>
                  <a:srgbClr val="00175A"/>
                </a:solidFill>
                <a:latin typeface="Arial"/>
              </a:rPr>
              <a:t>Distiller | how a finding becomes memory</a:t>
            </a:r>
          </a:p>
        </p:txBody>
      </p:sp>
      <p:cxnSp>
        <p:nvCxnSpPr>
          <p:cNvPr id="4" name="Connector 3"/>
          <p:cNvCxnSpPr/>
          <p:nvPr/>
        </p:nvCxnSpPr>
        <p:spPr>
          <a:xfrm>
            <a:off x="419100" y="685800"/>
            <a:ext cx="11353800" cy="0"/>
          </a:xfrm>
          <a:prstGeom prst="line">
            <a:avLst/>
          </a:prstGeom>
          <a:ln w="12700">
            <a:solidFill>
              <a:srgbClr val="C7CFD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9100" y="800100"/>
            <a:ext cx="28575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W H E R E   I T   S I T S</a:t>
            </a:r>
          </a:p>
        </p:txBody>
      </p:sp>
      <p:sp>
        <p:nvSpPr>
          <p:cNvPr id="6" name="Rectangle 5"/>
          <p:cNvSpPr/>
          <p:nvPr/>
        </p:nvSpPr>
        <p:spPr>
          <a:xfrm>
            <a:off x="419100" y="1009650"/>
            <a:ext cx="1333500" cy="2857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75" b="0">
                <a:solidFill>
                  <a:srgbClr val="00175A"/>
                </a:solidFill>
                <a:latin typeface="Arial"/>
              </a:rPr>
              <a:t>SpecialistOutput</a:t>
            </a:r>
          </a:p>
        </p:txBody>
      </p:sp>
      <p:cxnSp>
        <p:nvCxnSpPr>
          <p:cNvPr id="7" name="Connector 6"/>
          <p:cNvCxnSpPr/>
          <p:nvPr/>
        </p:nvCxnSpPr>
        <p:spPr>
          <a:xfrm flipV="1">
            <a:off x="1752600" y="1028700"/>
            <a:ext cx="228600" cy="123825"/>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752600" y="1152525"/>
            <a:ext cx="228600" cy="257175"/>
          </a:xfrm>
          <a:prstGeom prst="line">
            <a:avLst/>
          </a:prstGeom>
          <a:ln w="1270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038350" y="914400"/>
            <a:ext cx="2724150" cy="2476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37" b="0">
                <a:solidFill>
                  <a:srgbClr val="00175A"/>
                </a:solidFill>
                <a:latin typeface="Arial"/>
              </a:rPr>
              <a:t>synthesis → FinalAnswer → reviewer</a:t>
            </a:r>
          </a:p>
        </p:txBody>
      </p:sp>
      <p:sp>
        <p:nvSpPr>
          <p:cNvPr id="10" name="TextBox 9"/>
          <p:cNvSpPr txBox="1"/>
          <p:nvPr/>
        </p:nvSpPr>
        <p:spPr>
          <a:xfrm>
            <a:off x="4876800" y="914400"/>
            <a:ext cx="3810000" cy="24765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the answer path — </a:t>
            </a:r>
            <a:r>
              <a:rPr sz="712" b="1">
                <a:solidFill>
                  <a:srgbClr val="6B7A90"/>
                </a:solidFill>
                <a:latin typeface="Arial"/>
              </a:rPr>
              <a:t>writes nothing to the KB</a:t>
            </a:r>
          </a:p>
        </p:txBody>
      </p:sp>
      <p:sp>
        <p:nvSpPr>
          <p:cNvPr id="11" name="Rectangle 10"/>
          <p:cNvSpPr/>
          <p:nvPr/>
        </p:nvSpPr>
        <p:spPr>
          <a:xfrm>
            <a:off x="2038350" y="1276350"/>
            <a:ext cx="2724150" cy="24765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37" b="1">
                <a:solidFill>
                  <a:srgbClr val="FFFFFF"/>
                </a:solidFill>
                <a:latin typeface="Arial"/>
              </a:rPr>
              <a:t>Distiller → knowledge points</a:t>
            </a:r>
          </a:p>
        </p:txBody>
      </p:sp>
      <p:sp>
        <p:nvSpPr>
          <p:cNvPr id="12" name="TextBox 11"/>
          <p:cNvSpPr txBox="1"/>
          <p:nvPr/>
        </p:nvSpPr>
        <p:spPr>
          <a:xfrm>
            <a:off x="4876800" y="1276350"/>
            <a:ext cx="3810000" cy="24765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the memory path — </a:t>
            </a:r>
            <a:r>
              <a:rPr sz="712" b="1">
                <a:solidFill>
                  <a:srgbClr val="6B7A90"/>
                </a:solidFill>
                <a:latin typeface="Arial"/>
              </a:rPr>
              <a:t>the only writer</a:t>
            </a:r>
          </a:p>
        </p:txBody>
      </p:sp>
      <p:sp>
        <p:nvSpPr>
          <p:cNvPr id="13" name="Rectangle 12"/>
          <p:cNvSpPr/>
          <p:nvPr/>
        </p:nvSpPr>
        <p:spPr>
          <a:xfrm>
            <a:off x="8763000" y="876300"/>
            <a:ext cx="3009900" cy="6858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8763000" y="876300"/>
            <a:ext cx="38100" cy="6858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8915400" y="952500"/>
            <a:ext cx="2781300" cy="552450"/>
          </a:xfrm>
          <a:prstGeom prst="rect">
            <a:avLst/>
          </a:prstGeom>
          <a:noFill/>
        </p:spPr>
        <p:txBody>
          <a:bodyPr wrap="square" lIns="0" rIns="0" tIns="0" bIns="0" anchor="ctr">
            <a:spAutoFit/>
          </a:bodyPr>
          <a:lstStyle/>
          <a:p>
            <a:pPr algn="l">
              <a:lnSpc>
                <a:spcPct val="120000"/>
              </a:lnSpc>
            </a:pPr>
            <a:r>
              <a:rPr sz="862" b="0">
                <a:solidFill>
                  <a:srgbClr val="4A5568"/>
                </a:solidFill>
                <a:latin typeface="Arial"/>
              </a:rPr>
              <a:t>Both run </a:t>
            </a:r>
            <a:r>
              <a:rPr sz="862" b="1">
                <a:solidFill>
                  <a:srgbClr val="4A5568"/>
                </a:solidFill>
                <a:latin typeface="Arial"/>
              </a:rPr>
              <a:t>in parallel</a:t>
            </a:r>
            <a:r>
              <a:rPr sz="862" b="0">
                <a:solidFill>
                  <a:srgbClr val="4A5568"/>
                </a:solidFill>
                <a:latin typeface="Arial"/>
              </a:rPr>
              <a:t>. A distiller failure costs the memory, never the answer.</a:t>
            </a:r>
          </a:p>
        </p:txBody>
      </p:sp>
      <p:cxnSp>
        <p:nvCxnSpPr>
          <p:cNvPr id="16" name="Connector 15"/>
          <p:cNvCxnSpPr/>
          <p:nvPr/>
        </p:nvCxnSpPr>
        <p:spPr>
          <a:xfrm>
            <a:off x="419100" y="169545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9100" y="1828800"/>
            <a:ext cx="28575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T W O   S O U R C E S</a:t>
            </a:r>
          </a:p>
        </p:txBody>
      </p:sp>
      <p:sp>
        <p:nvSpPr>
          <p:cNvPr id="18" name="Rectangle 17"/>
          <p:cNvSpPr/>
          <p:nvPr/>
        </p:nvSpPr>
        <p:spPr>
          <a:xfrm>
            <a:off x="419100" y="2038350"/>
            <a:ext cx="2438400" cy="914400"/>
          </a:xfrm>
          <a:prstGeom prst="rect">
            <a:avLst/>
          </a:prstGeom>
          <a:solidFill>
            <a:srgbClr val="1C243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495300" y="2076450"/>
            <a:ext cx="1905000" cy="114300"/>
          </a:xfrm>
          <a:prstGeom prst="rect">
            <a:avLst/>
          </a:prstGeom>
          <a:noFill/>
        </p:spPr>
        <p:txBody>
          <a:bodyPr wrap="none" lIns="0" rIns="0" tIns="0" bIns="0" anchor="ctr">
            <a:spAutoFit/>
          </a:bodyPr>
          <a:lstStyle/>
          <a:p>
            <a:pPr algn="l">
              <a:lnSpc>
                <a:spcPct val="100000"/>
              </a:lnSpc>
            </a:pPr>
            <a:r>
              <a:rPr sz="600" b="1">
                <a:solidFill>
                  <a:srgbClr val="9CC4E8"/>
                </a:solidFill>
                <a:latin typeface="Arial"/>
              </a:rPr>
              <a:t>TOOL OUTPUT · JSON</a:t>
            </a:r>
          </a:p>
        </p:txBody>
      </p:sp>
      <p:sp>
        <p:nvSpPr>
          <p:cNvPr id="20" name="TextBox 19"/>
          <p:cNvSpPr txBox="1"/>
          <p:nvPr/>
        </p:nvSpPr>
        <p:spPr>
          <a:xfrm>
            <a:off x="419100" y="2247900"/>
            <a:ext cx="2438400" cy="685800"/>
          </a:xfrm>
          <a:prstGeom prst="rect">
            <a:avLst/>
          </a:prstGeom>
          <a:noFill/>
        </p:spPr>
        <p:txBody>
          <a:bodyPr wrap="none" lIns="76200" rIns="0" tIns="0" bIns="0" anchor="t">
            <a:spAutoFit/>
          </a:bodyPr>
          <a:lstStyle/>
          <a:p>
            <a:pPr>
              <a:lnSpc>
                <a:spcPct val="122000"/>
              </a:lnSpc>
            </a:pPr>
            <a:r>
              <a:rPr sz="562" b="0">
                <a:solidFill>
                  <a:srgbClr val="D6DEEA"/>
                </a:solidFill>
                <a:latin typeface="Consolas"/>
              </a:rPr>
              <a:t>"groups": [</a:t>
            </a:r>
          </a:p>
          <a:p>
            <a:pPr>
              <a:lnSpc>
                <a:spcPct val="122000"/>
              </a:lnSpc>
            </a:pPr>
            <a:r>
              <a:rPr sz="562" b="0">
                <a:solidFill>
                  <a:srgbClr val="D6DEEA"/>
                </a:solidFill>
                <a:latin typeface="Consolas"/>
              </a:rPr>
              <a:t> {"group":"AMAZON",  "raw_value":45200},</a:t>
            </a:r>
          </a:p>
          <a:p>
            <a:pPr>
              <a:lnSpc>
                <a:spcPct val="122000"/>
              </a:lnSpc>
            </a:pPr>
            <a:r>
              <a:rPr sz="562" b="0">
                <a:solidFill>
                  <a:srgbClr val="D6DEEA"/>
                </a:solidFill>
                <a:latin typeface="Consolas"/>
              </a:rPr>
              <a:t> {"group":"WALMART", "raw_value":32100},</a:t>
            </a:r>
          </a:p>
          <a:p>
            <a:pPr>
              <a:lnSpc>
                <a:spcPct val="122000"/>
              </a:lnSpc>
            </a:pPr>
            <a:r>
              <a:rPr sz="562" b="0">
                <a:solidFill>
                  <a:srgbClr val="D6DEEA"/>
                </a:solidFill>
                <a:latin typeface="Consolas"/>
              </a:rPr>
              <a:t> {"group":"COSTCO",  "raw_value":28500} ],</a:t>
            </a:r>
          </a:p>
          <a:p>
            <a:pPr>
              <a:lnSpc>
                <a:spcPct val="122000"/>
              </a:lnSpc>
            </a:pPr>
            <a:r>
              <a:rPr sz="562" b="0">
                <a:solidFill>
                  <a:srgbClr val="D6DEEA"/>
                </a:solidFill>
                <a:latin typeface="Consolas"/>
              </a:rPr>
              <a:t>"concentration":{"hhi":0.27,"top3":0.80}</a:t>
            </a:r>
          </a:p>
        </p:txBody>
      </p:sp>
      <p:sp>
        <p:nvSpPr>
          <p:cNvPr id="21" name="TextBox 20"/>
          <p:cNvSpPr txBox="1"/>
          <p:nvPr/>
        </p:nvSpPr>
        <p:spPr>
          <a:xfrm>
            <a:off x="419100" y="3009900"/>
            <a:ext cx="2857500" cy="114300"/>
          </a:xfrm>
          <a:prstGeom prst="rect">
            <a:avLst/>
          </a:prstGeom>
          <a:noFill/>
        </p:spPr>
        <p:txBody>
          <a:bodyPr wrap="none" lIns="0" rIns="0" tIns="0" bIns="0" anchor="ctr">
            <a:spAutoFit/>
          </a:bodyPr>
          <a:lstStyle/>
          <a:p>
            <a:pPr algn="l">
              <a:lnSpc>
                <a:spcPct val="100000"/>
              </a:lnSpc>
            </a:pPr>
            <a:r>
              <a:rPr sz="712" b="0">
                <a:solidFill>
                  <a:srgbClr val="0A5C42"/>
                </a:solidFill>
                <a:latin typeface="Arial"/>
              </a:rPr>
              <a:t>ground truth — </a:t>
            </a:r>
            <a:r>
              <a:rPr sz="712" b="1">
                <a:solidFill>
                  <a:srgbClr val="0A5C42"/>
                </a:solidFill>
                <a:latin typeface="Arial"/>
              </a:rPr>
              <a:t>never re-enters an LLM</a:t>
            </a:r>
          </a:p>
        </p:txBody>
      </p:sp>
      <p:sp>
        <p:nvSpPr>
          <p:cNvPr id="22" name="Rectangle 21"/>
          <p:cNvSpPr/>
          <p:nvPr/>
        </p:nvSpPr>
        <p:spPr>
          <a:xfrm>
            <a:off x="419100" y="3238500"/>
            <a:ext cx="2438400" cy="59055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495300" y="3276600"/>
            <a:ext cx="1905000" cy="114300"/>
          </a:xfrm>
          <a:prstGeom prst="rect">
            <a:avLst/>
          </a:prstGeom>
          <a:noFill/>
        </p:spPr>
        <p:txBody>
          <a:bodyPr wrap="none" lIns="0" rIns="0" tIns="0" bIns="0" anchor="ctr">
            <a:spAutoFit/>
          </a:bodyPr>
          <a:lstStyle/>
          <a:p>
            <a:pPr algn="l">
              <a:lnSpc>
                <a:spcPct val="100000"/>
              </a:lnSpc>
            </a:pPr>
            <a:r>
              <a:rPr sz="600" b="1">
                <a:solidFill>
                  <a:srgbClr val="006FCF"/>
                </a:solidFill>
                <a:latin typeface="Arial"/>
              </a:rPr>
              <a:t>FINDINGS + EVIDENCE</a:t>
            </a:r>
          </a:p>
        </p:txBody>
      </p:sp>
      <p:sp>
        <p:nvSpPr>
          <p:cNvPr id="24" name="TextBox 23"/>
          <p:cNvSpPr txBox="1"/>
          <p:nvPr/>
        </p:nvSpPr>
        <p:spPr>
          <a:xfrm>
            <a:off x="514350" y="3429000"/>
            <a:ext cx="2362200" cy="381000"/>
          </a:xfrm>
          <a:prstGeom prst="rect">
            <a:avLst/>
          </a:prstGeom>
          <a:noFill/>
        </p:spPr>
        <p:txBody>
          <a:bodyPr wrap="square" lIns="0" rIns="0" tIns="0" bIns="0" anchor="t">
            <a:spAutoFit/>
          </a:bodyPr>
          <a:lstStyle/>
          <a:p>
            <a:pPr algn="l">
              <a:lnSpc>
                <a:spcPct val="115000"/>
              </a:lnSpc>
            </a:pPr>
            <a:r>
              <a:rPr sz="637" b="0">
                <a:solidFill>
                  <a:srgbClr val="4A5568"/>
                </a:solidFill>
                <a:latin typeface="Arial"/>
              </a:rPr>
              <a:t>“Spend moderately concentrated: AMAZON leads $45,200 (34%), top-3 = 80% (HHI 0.27).”</a:t>
            </a:r>
          </a:p>
        </p:txBody>
      </p:sp>
      <p:sp>
        <p:nvSpPr>
          <p:cNvPr id="25" name="TextBox 24"/>
          <p:cNvSpPr txBox="1"/>
          <p:nvPr/>
        </p:nvSpPr>
        <p:spPr>
          <a:xfrm>
            <a:off x="419100" y="3886200"/>
            <a:ext cx="2857500" cy="11430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the specialist's own prose</a:t>
            </a:r>
          </a:p>
        </p:txBody>
      </p:sp>
      <p:cxnSp>
        <p:nvCxnSpPr>
          <p:cNvPr id="26" name="Connector 25"/>
          <p:cNvCxnSpPr/>
          <p:nvPr/>
        </p:nvCxnSpPr>
        <p:spPr>
          <a:xfrm>
            <a:off x="2876550" y="2914650"/>
            <a:ext cx="247650" cy="0"/>
          </a:xfrm>
          <a:prstGeom prst="line">
            <a:avLst/>
          </a:prstGeom>
          <a:ln w="1524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200400" y="1828800"/>
            <a:ext cx="28575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T W O   L A N E S</a:t>
            </a:r>
          </a:p>
        </p:txBody>
      </p:sp>
      <p:sp>
        <p:nvSpPr>
          <p:cNvPr id="28" name="Rectangle 27"/>
          <p:cNvSpPr/>
          <p:nvPr/>
        </p:nvSpPr>
        <p:spPr>
          <a:xfrm>
            <a:off x="3200400" y="2038350"/>
            <a:ext cx="3086100" cy="22860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75" b="1">
                <a:solidFill>
                  <a:srgbClr val="FFFFFF"/>
                </a:solidFill>
                <a:latin typeface="Arial"/>
              </a:rPr>
              <a:t>DISTILLER</a:t>
            </a:r>
          </a:p>
        </p:txBody>
      </p:sp>
      <p:sp>
        <p:nvSpPr>
          <p:cNvPr id="29" name="Rectangle 28"/>
          <p:cNvSpPr/>
          <p:nvPr/>
        </p:nvSpPr>
        <p:spPr>
          <a:xfrm>
            <a:off x="3200400" y="2324100"/>
            <a:ext cx="3086100" cy="704850"/>
          </a:xfrm>
          <a:prstGeom prst="rect">
            <a:avLst/>
          </a:prstGeom>
          <a:solidFill>
            <a:srgbClr val="FFFFFF"/>
          </a:solidFill>
          <a:ln w="9525">
            <a:solidFill>
              <a:srgbClr val="006FC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3276600" y="2371725"/>
            <a:ext cx="1905000" cy="114300"/>
          </a:xfrm>
          <a:prstGeom prst="rect">
            <a:avLst/>
          </a:prstGeom>
          <a:noFill/>
        </p:spPr>
        <p:txBody>
          <a:bodyPr wrap="none" lIns="0" rIns="0" tIns="0" bIns="0" anchor="ctr">
            <a:spAutoFit/>
          </a:bodyPr>
          <a:lstStyle/>
          <a:p>
            <a:pPr algn="l">
              <a:lnSpc>
                <a:spcPct val="100000"/>
              </a:lnSpc>
            </a:pPr>
            <a:r>
              <a:rPr sz="637" b="1">
                <a:solidFill>
                  <a:srgbClr val="006FCF"/>
                </a:solidFill>
                <a:latin typeface="Arial"/>
              </a:rPr>
              <a:t>① Agent skeleton — LLM</a:t>
            </a:r>
          </a:p>
        </p:txBody>
      </p:sp>
      <p:sp>
        <p:nvSpPr>
          <p:cNvPr id="31" name="TextBox 30"/>
          <p:cNvSpPr txBox="1"/>
          <p:nvPr/>
        </p:nvSpPr>
        <p:spPr>
          <a:xfrm>
            <a:off x="4762500" y="2371725"/>
            <a:ext cx="1466850" cy="114300"/>
          </a:xfrm>
          <a:prstGeom prst="rect">
            <a:avLst/>
          </a:prstGeom>
          <a:noFill/>
        </p:spPr>
        <p:txBody>
          <a:bodyPr wrap="none" lIns="0" rIns="0" tIns="0" bIns="0" anchor="ctr">
            <a:spAutoFit/>
          </a:bodyPr>
          <a:lstStyle/>
          <a:p>
            <a:pPr algn="r">
              <a:lnSpc>
                <a:spcPct val="100000"/>
              </a:lnSpc>
            </a:pPr>
            <a:r>
              <a:rPr sz="562" b="0">
                <a:solidFill>
                  <a:srgbClr val="6B7A90"/>
                </a:solidFill>
                <a:latin typeface="Arial"/>
              </a:rPr>
              <a:t>← from findings</a:t>
            </a:r>
          </a:p>
        </p:txBody>
      </p:sp>
      <p:sp>
        <p:nvSpPr>
          <p:cNvPr id="32" name="TextBox 31"/>
          <p:cNvSpPr txBox="1"/>
          <p:nvPr/>
        </p:nvSpPr>
        <p:spPr>
          <a:xfrm>
            <a:off x="3200400" y="2533650"/>
            <a:ext cx="3086100" cy="476250"/>
          </a:xfrm>
          <a:prstGeom prst="rect">
            <a:avLst/>
          </a:prstGeom>
          <a:noFill/>
        </p:spPr>
        <p:txBody>
          <a:bodyPr wrap="none" lIns="76200" rIns="0" tIns="0" bIns="0" anchor="t">
            <a:spAutoFit/>
          </a:bodyPr>
          <a:lstStyle/>
          <a:p>
            <a:pPr>
              <a:lnSpc>
                <a:spcPct val="122000"/>
              </a:lnSpc>
            </a:pPr>
            <a:r>
              <a:rPr sz="562" b="0">
                <a:solidFill>
                  <a:srgbClr val="006FCF"/>
                </a:solidFill>
                <a:latin typeface="Consolas"/>
              </a:rPr>
              <a:t>"topic":   ‹LLM›</a:t>
            </a:r>
          </a:p>
          <a:p>
            <a:pPr>
              <a:lnSpc>
                <a:spcPct val="122000"/>
              </a:lnSpc>
            </a:pPr>
            <a:r>
              <a:rPr sz="562" b="0">
                <a:solidFill>
                  <a:srgbClr val="006FCF"/>
                </a:solidFill>
                <a:latin typeface="Consolas"/>
              </a:rPr>
              <a:t>"claim":   ‹LLM›</a:t>
            </a:r>
          </a:p>
          <a:p>
            <a:pPr>
              <a:lnSpc>
                <a:spcPct val="122000"/>
              </a:lnSpc>
            </a:pPr>
            <a:r>
              <a:rPr sz="562" b="0">
                <a:solidFill>
                  <a:srgbClr val="6B7A90"/>
                </a:solidFill>
                <a:latin typeface="Consolas"/>
              </a:rPr>
              <a:t>"numbers": ∅  ← deterministic</a:t>
            </a:r>
          </a:p>
          <a:p>
            <a:pPr>
              <a:lnSpc>
                <a:spcPct val="122000"/>
              </a:lnSpc>
            </a:pPr>
            <a:r>
              <a:rPr sz="562" b="0">
                <a:solidFill>
                  <a:srgbClr val="6B7A90"/>
                </a:solidFill>
                <a:latin typeface="Consolas"/>
              </a:rPr>
              <a:t>"viz":     ∅  ← auto-chart</a:t>
            </a:r>
          </a:p>
        </p:txBody>
      </p:sp>
      <p:sp>
        <p:nvSpPr>
          <p:cNvPr id="33" name="Rectangle 32"/>
          <p:cNvSpPr/>
          <p:nvPr/>
        </p:nvSpPr>
        <p:spPr>
          <a:xfrm>
            <a:off x="3200400" y="3105150"/>
            <a:ext cx="3086100" cy="704850"/>
          </a:xfrm>
          <a:prstGeom prst="rect">
            <a:avLst/>
          </a:prstGeom>
          <a:solidFill>
            <a:srgbClr val="FFFFFF"/>
          </a:solidFill>
          <a:ln w="9525">
            <a:solidFill>
              <a:srgbClr val="0B8A5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3276600" y="3152775"/>
            <a:ext cx="2095500" cy="114300"/>
          </a:xfrm>
          <a:prstGeom prst="rect">
            <a:avLst/>
          </a:prstGeom>
          <a:noFill/>
        </p:spPr>
        <p:txBody>
          <a:bodyPr wrap="none" lIns="0" rIns="0" tIns="0" bIns="0" anchor="ctr">
            <a:spAutoFit/>
          </a:bodyPr>
          <a:lstStyle/>
          <a:p>
            <a:pPr algn="l">
              <a:lnSpc>
                <a:spcPct val="100000"/>
              </a:lnSpc>
            </a:pPr>
            <a:r>
              <a:rPr sz="637" b="1">
                <a:solidFill>
                  <a:srgbClr val="0A5C42"/>
                </a:solidFill>
                <a:latin typeface="Arial"/>
              </a:rPr>
              <a:t>② _ParsedSeries — no LLM</a:t>
            </a:r>
          </a:p>
        </p:txBody>
      </p:sp>
      <p:sp>
        <p:nvSpPr>
          <p:cNvPr id="35" name="TextBox 34"/>
          <p:cNvSpPr txBox="1"/>
          <p:nvPr/>
        </p:nvSpPr>
        <p:spPr>
          <a:xfrm>
            <a:off x="4762500" y="3152775"/>
            <a:ext cx="1466850" cy="114300"/>
          </a:xfrm>
          <a:prstGeom prst="rect">
            <a:avLst/>
          </a:prstGeom>
          <a:noFill/>
        </p:spPr>
        <p:txBody>
          <a:bodyPr wrap="none" lIns="0" rIns="0" tIns="0" bIns="0" anchor="ctr">
            <a:spAutoFit/>
          </a:bodyPr>
          <a:lstStyle/>
          <a:p>
            <a:pPr algn="r">
              <a:lnSpc>
                <a:spcPct val="100000"/>
              </a:lnSpc>
            </a:pPr>
            <a:r>
              <a:rPr sz="562" b="0">
                <a:solidFill>
                  <a:srgbClr val="6B7A90"/>
                </a:solidFill>
                <a:latin typeface="Arial"/>
              </a:rPr>
              <a:t>← from tool output</a:t>
            </a:r>
          </a:p>
        </p:txBody>
      </p:sp>
      <p:sp>
        <p:nvSpPr>
          <p:cNvPr id="36" name="TextBox 35"/>
          <p:cNvSpPr txBox="1"/>
          <p:nvPr/>
        </p:nvSpPr>
        <p:spPr>
          <a:xfrm>
            <a:off x="3200400" y="3314700"/>
            <a:ext cx="3086100" cy="476250"/>
          </a:xfrm>
          <a:prstGeom prst="rect">
            <a:avLst/>
          </a:prstGeom>
          <a:noFill/>
        </p:spPr>
        <p:txBody>
          <a:bodyPr wrap="none" lIns="76200" rIns="0" tIns="0" bIns="0" anchor="t">
            <a:spAutoFit/>
          </a:bodyPr>
          <a:lstStyle/>
          <a:p>
            <a:pPr>
              <a:lnSpc>
                <a:spcPct val="122000"/>
              </a:lnSpc>
            </a:pPr>
            <a:r>
              <a:rPr sz="562" b="0">
                <a:solidFill>
                  <a:srgbClr val="4A5568"/>
                </a:solidFill>
                <a:latin typeface="Consolas"/>
              </a:rPr>
              <a:t>column_name = "amount_by_merchant"</a:t>
            </a:r>
          </a:p>
          <a:p>
            <a:pPr>
              <a:lnSpc>
                <a:spcPct val="122000"/>
              </a:lnSpc>
            </a:pPr>
            <a:r>
              <a:rPr sz="562" b="0">
                <a:solidFill>
                  <a:srgbClr val="4A5568"/>
                </a:solidFill>
                <a:latin typeface="Consolas"/>
              </a:rPr>
              <a:t>key_field   = "group"</a:t>
            </a:r>
          </a:p>
          <a:p>
            <a:pPr>
              <a:lnSpc>
                <a:spcPct val="122000"/>
              </a:lnSpc>
            </a:pPr>
            <a:r>
              <a:rPr sz="562" b="0">
                <a:solidFill>
                  <a:srgbClr val="0A5C42"/>
                </a:solidFill>
                <a:latin typeface="Consolas"/>
              </a:rPr>
              <a:t>lookup = {"AMAZON":45200, "WALMART":32100,</a:t>
            </a:r>
          </a:p>
          <a:p>
            <a:pPr>
              <a:lnSpc>
                <a:spcPct val="122000"/>
              </a:lnSpc>
            </a:pPr>
            <a:r>
              <a:rPr sz="562" b="0">
                <a:solidFill>
                  <a:srgbClr val="0A5C42"/>
                </a:solidFill>
                <a:latin typeface="Consolas"/>
              </a:rPr>
              <a:t>          "COSTCO":28500, ...}</a:t>
            </a:r>
          </a:p>
        </p:txBody>
      </p:sp>
      <p:sp>
        <p:nvSpPr>
          <p:cNvPr id="37" name="TextBox 36"/>
          <p:cNvSpPr txBox="1"/>
          <p:nvPr/>
        </p:nvSpPr>
        <p:spPr>
          <a:xfrm>
            <a:off x="3200400" y="3886200"/>
            <a:ext cx="3048000" cy="11430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summarize_by_group → key + raw_value</a:t>
            </a:r>
          </a:p>
        </p:txBody>
      </p:sp>
      <p:cxnSp>
        <p:nvCxnSpPr>
          <p:cNvPr id="38" name="Connector 37"/>
          <p:cNvCxnSpPr/>
          <p:nvPr/>
        </p:nvCxnSpPr>
        <p:spPr>
          <a:xfrm>
            <a:off x="6305550" y="2914650"/>
            <a:ext cx="247650" cy="0"/>
          </a:xfrm>
          <a:prstGeom prst="line">
            <a:avLst/>
          </a:prstGeom>
          <a:ln w="1524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629400" y="1828800"/>
            <a:ext cx="3810000" cy="114300"/>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O N E   K N O W L E D G E   P O I N T</a:t>
            </a:r>
          </a:p>
        </p:txBody>
      </p:sp>
      <p:sp>
        <p:nvSpPr>
          <p:cNvPr id="40" name="Rectangle 39"/>
          <p:cNvSpPr/>
          <p:nvPr/>
        </p:nvSpPr>
        <p:spPr>
          <a:xfrm>
            <a:off x="6629400" y="2038350"/>
            <a:ext cx="5143500" cy="22860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675" b="1">
                <a:solidFill>
                  <a:srgbClr val="FFFFFF"/>
                </a:solidFill>
                <a:latin typeface="Arial"/>
              </a:rPr>
              <a:t>③  MERGED — written to the session KB</a:t>
            </a:r>
          </a:p>
        </p:txBody>
      </p:sp>
      <p:sp>
        <p:nvSpPr>
          <p:cNvPr id="41" name="Rectangle 40"/>
          <p:cNvSpPr/>
          <p:nvPr/>
        </p:nvSpPr>
        <p:spPr>
          <a:xfrm>
            <a:off x="6629400" y="2324100"/>
            <a:ext cx="5143500" cy="28575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Rectangle 41"/>
          <p:cNvSpPr/>
          <p:nvPr/>
        </p:nvSpPr>
        <p:spPr>
          <a:xfrm>
            <a:off x="6629400" y="2324100"/>
            <a:ext cx="38100" cy="28575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6781800" y="2324100"/>
            <a:ext cx="666750" cy="285750"/>
          </a:xfrm>
          <a:prstGeom prst="rect">
            <a:avLst/>
          </a:prstGeom>
          <a:noFill/>
        </p:spPr>
        <p:txBody>
          <a:bodyPr wrap="none" lIns="0" rIns="0" tIns="0" bIns="0" anchor="ctr">
            <a:spAutoFit/>
          </a:bodyPr>
          <a:lstStyle/>
          <a:p>
            <a:pPr algn="l">
              <a:lnSpc>
                <a:spcPct val="100000"/>
              </a:lnSpc>
            </a:pPr>
            <a:r>
              <a:rPr sz="675" b="1">
                <a:solidFill>
                  <a:srgbClr val="00175A"/>
                </a:solidFill>
                <a:latin typeface="Arial"/>
              </a:rPr>
              <a:t>topic</a:t>
            </a:r>
          </a:p>
        </p:txBody>
      </p:sp>
      <p:sp>
        <p:nvSpPr>
          <p:cNvPr id="44" name="TextBox 43"/>
          <p:cNvSpPr txBox="1"/>
          <p:nvPr/>
        </p:nvSpPr>
        <p:spPr>
          <a:xfrm>
            <a:off x="7486650" y="2381250"/>
            <a:ext cx="3333750" cy="228600"/>
          </a:xfrm>
          <a:prstGeom prst="rect">
            <a:avLst/>
          </a:prstGeom>
          <a:noFill/>
        </p:spPr>
        <p:txBody>
          <a:bodyPr wrap="none" lIns="76200" rIns="0" tIns="0" bIns="0" anchor="t">
            <a:spAutoFit/>
          </a:bodyPr>
          <a:lstStyle/>
          <a:p>
            <a:pPr>
              <a:lnSpc>
                <a:spcPct val="122000"/>
              </a:lnSpc>
            </a:pPr>
            <a:r>
              <a:rPr sz="562" b="0">
                <a:solidFill>
                  <a:srgbClr val="4A5568"/>
                </a:solidFill>
                <a:latin typeface="Consolas"/>
              </a:rPr>
              <a:t>"spend_by_merchant"</a:t>
            </a:r>
          </a:p>
        </p:txBody>
      </p:sp>
      <p:sp>
        <p:nvSpPr>
          <p:cNvPr id="45" name="TextBox 44"/>
          <p:cNvSpPr txBox="1"/>
          <p:nvPr/>
        </p:nvSpPr>
        <p:spPr>
          <a:xfrm>
            <a:off x="10668000" y="2324100"/>
            <a:ext cx="1028700" cy="285750"/>
          </a:xfrm>
          <a:prstGeom prst="rect">
            <a:avLst/>
          </a:prstGeom>
          <a:noFill/>
        </p:spPr>
        <p:txBody>
          <a:bodyPr wrap="none" lIns="0" rIns="0" tIns="0" bIns="0" anchor="ctr">
            <a:spAutoFit/>
          </a:bodyPr>
          <a:lstStyle/>
          <a:p>
            <a:pPr algn="r">
              <a:lnSpc>
                <a:spcPct val="100000"/>
              </a:lnSpc>
            </a:pPr>
            <a:r>
              <a:rPr sz="562" b="1">
                <a:solidFill>
                  <a:srgbClr val="006FCF"/>
                </a:solidFill>
                <a:latin typeface="Arial"/>
              </a:rPr>
              <a:t>LLM</a:t>
            </a:r>
          </a:p>
        </p:txBody>
      </p:sp>
      <p:sp>
        <p:nvSpPr>
          <p:cNvPr id="46" name="Rectangle 45"/>
          <p:cNvSpPr/>
          <p:nvPr/>
        </p:nvSpPr>
        <p:spPr>
          <a:xfrm>
            <a:off x="6629400" y="2647950"/>
            <a:ext cx="5143500" cy="4191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Rectangle 46"/>
          <p:cNvSpPr/>
          <p:nvPr/>
        </p:nvSpPr>
        <p:spPr>
          <a:xfrm>
            <a:off x="6629400" y="2647950"/>
            <a:ext cx="38100" cy="4191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TextBox 47"/>
          <p:cNvSpPr txBox="1"/>
          <p:nvPr/>
        </p:nvSpPr>
        <p:spPr>
          <a:xfrm>
            <a:off x="6781800" y="2647950"/>
            <a:ext cx="666750" cy="419100"/>
          </a:xfrm>
          <a:prstGeom prst="rect">
            <a:avLst/>
          </a:prstGeom>
          <a:noFill/>
        </p:spPr>
        <p:txBody>
          <a:bodyPr wrap="none" lIns="0" rIns="0" tIns="0" bIns="0" anchor="ctr">
            <a:spAutoFit/>
          </a:bodyPr>
          <a:lstStyle/>
          <a:p>
            <a:pPr algn="l">
              <a:lnSpc>
                <a:spcPct val="100000"/>
              </a:lnSpc>
            </a:pPr>
            <a:r>
              <a:rPr sz="675" b="1">
                <a:solidFill>
                  <a:srgbClr val="00175A"/>
                </a:solidFill>
                <a:latin typeface="Arial"/>
              </a:rPr>
              <a:t>claim</a:t>
            </a:r>
          </a:p>
        </p:txBody>
      </p:sp>
      <p:sp>
        <p:nvSpPr>
          <p:cNvPr id="49" name="TextBox 48"/>
          <p:cNvSpPr txBox="1"/>
          <p:nvPr/>
        </p:nvSpPr>
        <p:spPr>
          <a:xfrm>
            <a:off x="7486650" y="2705100"/>
            <a:ext cx="3333750" cy="361950"/>
          </a:xfrm>
          <a:prstGeom prst="rect">
            <a:avLst/>
          </a:prstGeom>
          <a:noFill/>
        </p:spPr>
        <p:txBody>
          <a:bodyPr wrap="none" lIns="76200" rIns="0" tIns="0" bIns="0" anchor="t">
            <a:spAutoFit/>
          </a:bodyPr>
          <a:lstStyle/>
          <a:p>
            <a:pPr>
              <a:lnSpc>
                <a:spcPct val="122000"/>
              </a:lnSpc>
            </a:pPr>
            <a:r>
              <a:rPr sz="562" b="0">
                <a:solidFill>
                  <a:srgbClr val="4A5568"/>
                </a:solidFill>
                <a:latin typeface="Consolas"/>
              </a:rPr>
              <a:t>"AMAZON leads $45,200 (34%);</a:t>
            </a:r>
          </a:p>
          <a:p>
            <a:pPr>
              <a:lnSpc>
                <a:spcPct val="122000"/>
              </a:lnSpc>
            </a:pPr>
            <a:r>
              <a:rPr sz="562" b="0">
                <a:solidFill>
                  <a:srgbClr val="4A5568"/>
                </a:solidFill>
                <a:latin typeface="Consolas"/>
              </a:rPr>
              <a:t>top-3 = 80% (HHI 0.27)"</a:t>
            </a:r>
          </a:p>
        </p:txBody>
      </p:sp>
      <p:sp>
        <p:nvSpPr>
          <p:cNvPr id="50" name="TextBox 49"/>
          <p:cNvSpPr txBox="1"/>
          <p:nvPr/>
        </p:nvSpPr>
        <p:spPr>
          <a:xfrm>
            <a:off x="10668000" y="2647950"/>
            <a:ext cx="1028700" cy="419100"/>
          </a:xfrm>
          <a:prstGeom prst="rect">
            <a:avLst/>
          </a:prstGeom>
          <a:noFill/>
        </p:spPr>
        <p:txBody>
          <a:bodyPr wrap="none" lIns="0" rIns="0" tIns="0" bIns="0" anchor="ctr">
            <a:spAutoFit/>
          </a:bodyPr>
          <a:lstStyle/>
          <a:p>
            <a:pPr algn="r">
              <a:lnSpc>
                <a:spcPct val="100000"/>
              </a:lnSpc>
            </a:pPr>
            <a:r>
              <a:rPr sz="562" b="1">
                <a:solidFill>
                  <a:srgbClr val="006FCF"/>
                </a:solidFill>
                <a:latin typeface="Arial"/>
              </a:rPr>
              <a:t>LLM</a:t>
            </a:r>
          </a:p>
        </p:txBody>
      </p:sp>
      <p:sp>
        <p:nvSpPr>
          <p:cNvPr id="51" name="Rectangle 50"/>
          <p:cNvSpPr/>
          <p:nvPr/>
        </p:nvSpPr>
        <p:spPr>
          <a:xfrm>
            <a:off x="6629400" y="3105150"/>
            <a:ext cx="5143500" cy="4191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Rectangle 51"/>
          <p:cNvSpPr/>
          <p:nvPr/>
        </p:nvSpPr>
        <p:spPr>
          <a:xfrm>
            <a:off x="6629400" y="3105150"/>
            <a:ext cx="38100" cy="419100"/>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6781800" y="3105150"/>
            <a:ext cx="666750" cy="419100"/>
          </a:xfrm>
          <a:prstGeom prst="rect">
            <a:avLst/>
          </a:prstGeom>
          <a:noFill/>
        </p:spPr>
        <p:txBody>
          <a:bodyPr wrap="none" lIns="0" rIns="0" tIns="0" bIns="0" anchor="ctr">
            <a:spAutoFit/>
          </a:bodyPr>
          <a:lstStyle/>
          <a:p>
            <a:pPr algn="l">
              <a:lnSpc>
                <a:spcPct val="100000"/>
              </a:lnSpc>
            </a:pPr>
            <a:r>
              <a:rPr sz="675" b="1">
                <a:solidFill>
                  <a:srgbClr val="00175A"/>
                </a:solidFill>
                <a:latin typeface="Arial"/>
              </a:rPr>
              <a:t>numbers</a:t>
            </a:r>
          </a:p>
        </p:txBody>
      </p:sp>
      <p:sp>
        <p:nvSpPr>
          <p:cNvPr id="54" name="TextBox 53"/>
          <p:cNvSpPr txBox="1"/>
          <p:nvPr/>
        </p:nvSpPr>
        <p:spPr>
          <a:xfrm>
            <a:off x="7486650" y="3162300"/>
            <a:ext cx="3333750" cy="361950"/>
          </a:xfrm>
          <a:prstGeom prst="rect">
            <a:avLst/>
          </a:prstGeom>
          <a:noFill/>
        </p:spPr>
        <p:txBody>
          <a:bodyPr wrap="none" lIns="76200" rIns="0" tIns="0" bIns="0" anchor="t">
            <a:spAutoFit/>
          </a:bodyPr>
          <a:lstStyle/>
          <a:p>
            <a:pPr>
              <a:lnSpc>
                <a:spcPct val="122000"/>
              </a:lnSpc>
            </a:pPr>
            <a:r>
              <a:rPr sz="562" b="0">
                <a:solidFill>
                  <a:srgbClr val="4A5568"/>
                </a:solidFill>
                <a:latin typeface="Consolas"/>
              </a:rPr>
              <a:t>[{"group":"AMAZON","value":45200},</a:t>
            </a:r>
          </a:p>
          <a:p>
            <a:pPr>
              <a:lnSpc>
                <a:spcPct val="122000"/>
              </a:lnSpc>
            </a:pPr>
            <a:r>
              <a:rPr sz="562" b="0">
                <a:solidFill>
                  <a:srgbClr val="4A5568"/>
                </a:solidFill>
                <a:latin typeface="Consolas"/>
              </a:rPr>
              <a:t> {"group":"WALMART","value":32100}, …]</a:t>
            </a:r>
          </a:p>
        </p:txBody>
      </p:sp>
      <p:sp>
        <p:nvSpPr>
          <p:cNvPr id="55" name="TextBox 54"/>
          <p:cNvSpPr txBox="1"/>
          <p:nvPr/>
        </p:nvSpPr>
        <p:spPr>
          <a:xfrm>
            <a:off x="10668000" y="3105150"/>
            <a:ext cx="1028700" cy="419100"/>
          </a:xfrm>
          <a:prstGeom prst="rect">
            <a:avLst/>
          </a:prstGeom>
          <a:noFill/>
        </p:spPr>
        <p:txBody>
          <a:bodyPr wrap="none" lIns="0" rIns="0" tIns="0" bIns="0" anchor="ctr">
            <a:spAutoFit/>
          </a:bodyPr>
          <a:lstStyle/>
          <a:p>
            <a:pPr algn="r">
              <a:lnSpc>
                <a:spcPct val="100000"/>
              </a:lnSpc>
            </a:pPr>
            <a:r>
              <a:rPr sz="562" b="1">
                <a:solidFill>
                  <a:srgbClr val="0A5C42"/>
                </a:solidFill>
                <a:latin typeface="Arial"/>
              </a:rPr>
              <a:t>DETERMINISTIC</a:t>
            </a:r>
          </a:p>
        </p:txBody>
      </p:sp>
      <p:sp>
        <p:nvSpPr>
          <p:cNvPr id="56" name="Rectangle 55"/>
          <p:cNvSpPr/>
          <p:nvPr/>
        </p:nvSpPr>
        <p:spPr>
          <a:xfrm>
            <a:off x="6629400" y="3562350"/>
            <a:ext cx="5143500" cy="28575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Rectangle 56"/>
          <p:cNvSpPr/>
          <p:nvPr/>
        </p:nvSpPr>
        <p:spPr>
          <a:xfrm>
            <a:off x="6629400" y="3562350"/>
            <a:ext cx="38100" cy="285750"/>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8" name="TextBox 57"/>
          <p:cNvSpPr txBox="1"/>
          <p:nvPr/>
        </p:nvSpPr>
        <p:spPr>
          <a:xfrm>
            <a:off x="6781800" y="3562350"/>
            <a:ext cx="666750" cy="285750"/>
          </a:xfrm>
          <a:prstGeom prst="rect">
            <a:avLst/>
          </a:prstGeom>
          <a:noFill/>
        </p:spPr>
        <p:txBody>
          <a:bodyPr wrap="none" lIns="0" rIns="0" tIns="0" bIns="0" anchor="ctr">
            <a:spAutoFit/>
          </a:bodyPr>
          <a:lstStyle/>
          <a:p>
            <a:pPr algn="l">
              <a:lnSpc>
                <a:spcPct val="100000"/>
              </a:lnSpc>
            </a:pPr>
            <a:r>
              <a:rPr sz="675" b="1">
                <a:solidFill>
                  <a:srgbClr val="00175A"/>
                </a:solidFill>
                <a:latin typeface="Arial"/>
              </a:rPr>
              <a:t>viz</a:t>
            </a:r>
          </a:p>
        </p:txBody>
      </p:sp>
      <p:sp>
        <p:nvSpPr>
          <p:cNvPr id="59" name="TextBox 58"/>
          <p:cNvSpPr txBox="1"/>
          <p:nvPr/>
        </p:nvSpPr>
        <p:spPr>
          <a:xfrm>
            <a:off x="7486650" y="3619500"/>
            <a:ext cx="3333750" cy="228600"/>
          </a:xfrm>
          <a:prstGeom prst="rect">
            <a:avLst/>
          </a:prstGeom>
          <a:noFill/>
        </p:spPr>
        <p:txBody>
          <a:bodyPr wrap="none" lIns="76200" rIns="0" tIns="0" bIns="0" anchor="t">
            <a:spAutoFit/>
          </a:bodyPr>
          <a:lstStyle/>
          <a:p>
            <a:pPr>
              <a:lnSpc>
                <a:spcPct val="122000"/>
              </a:lnSpc>
            </a:pPr>
            <a:r>
              <a:rPr sz="562" b="0">
                <a:solidFill>
                  <a:srgbClr val="4A5568"/>
                </a:solidFill>
                <a:latin typeface="Consolas"/>
              </a:rPr>
              <a:t>/charts/spend_by_merchant_share.png</a:t>
            </a:r>
          </a:p>
        </p:txBody>
      </p:sp>
      <p:sp>
        <p:nvSpPr>
          <p:cNvPr id="60" name="TextBox 59"/>
          <p:cNvSpPr txBox="1"/>
          <p:nvPr/>
        </p:nvSpPr>
        <p:spPr>
          <a:xfrm>
            <a:off x="10668000" y="3562350"/>
            <a:ext cx="1028700" cy="285750"/>
          </a:xfrm>
          <a:prstGeom prst="rect">
            <a:avLst/>
          </a:prstGeom>
          <a:noFill/>
        </p:spPr>
        <p:txBody>
          <a:bodyPr wrap="none" lIns="0" rIns="0" tIns="0" bIns="0" anchor="ctr">
            <a:spAutoFit/>
          </a:bodyPr>
          <a:lstStyle/>
          <a:p>
            <a:pPr algn="r">
              <a:lnSpc>
                <a:spcPct val="100000"/>
              </a:lnSpc>
            </a:pPr>
            <a:r>
              <a:rPr sz="562" b="1">
                <a:solidFill>
                  <a:srgbClr val="0A5C42"/>
                </a:solidFill>
                <a:latin typeface="Arial"/>
              </a:rPr>
              <a:t>BY PATH</a:t>
            </a:r>
          </a:p>
        </p:txBody>
      </p:sp>
      <p:sp>
        <p:nvSpPr>
          <p:cNvPr id="61" name="TextBox 60"/>
          <p:cNvSpPr txBox="1"/>
          <p:nvPr/>
        </p:nvSpPr>
        <p:spPr>
          <a:xfrm>
            <a:off x="6629400" y="3924300"/>
            <a:ext cx="5143500" cy="11430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one object, two provenances — </a:t>
            </a:r>
            <a:r>
              <a:rPr sz="712" b="1">
                <a:solidFill>
                  <a:srgbClr val="6B7A90"/>
                </a:solidFill>
                <a:latin typeface="Arial"/>
              </a:rPr>
              <a:t>the LLM never writes a number</a:t>
            </a:r>
          </a:p>
        </p:txBody>
      </p:sp>
      <p:cxnSp>
        <p:nvCxnSpPr>
          <p:cNvPr id="62" name="Connector 61"/>
          <p:cNvCxnSpPr/>
          <p:nvPr/>
        </p:nvCxnSpPr>
        <p:spPr>
          <a:xfrm>
            <a:off x="419100" y="417195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419100" y="4343400"/>
            <a:ext cx="3505200" cy="150495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4" name="Rectangle 63"/>
          <p:cNvSpPr/>
          <p:nvPr/>
        </p:nvSpPr>
        <p:spPr>
          <a:xfrm>
            <a:off x="419100" y="4343400"/>
            <a:ext cx="38100" cy="150495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5" name="TextBox 64"/>
          <p:cNvSpPr txBox="1"/>
          <p:nvPr/>
        </p:nvSpPr>
        <p:spPr>
          <a:xfrm>
            <a:off x="590550" y="4495800"/>
            <a:ext cx="3143250" cy="209550"/>
          </a:xfrm>
          <a:prstGeom prst="rect">
            <a:avLst/>
          </a:prstGeom>
          <a:noFill/>
        </p:spPr>
        <p:txBody>
          <a:bodyPr wrap="square" lIns="0" rIns="0" tIns="0" bIns="0" anchor="t">
            <a:spAutoFit/>
          </a:bodyPr>
          <a:lstStyle/>
          <a:p>
            <a:pPr algn="l">
              <a:lnSpc>
                <a:spcPct val="100000"/>
              </a:lnSpc>
            </a:pPr>
            <a:r>
              <a:rPr sz="1125" b="1">
                <a:solidFill>
                  <a:srgbClr val="00175A"/>
                </a:solidFill>
                <a:latin typeface="Arial"/>
              </a:rPr>
              <a:t>Why parse, not prompt?</a:t>
            </a:r>
          </a:p>
        </p:txBody>
      </p:sp>
      <p:sp>
        <p:nvSpPr>
          <p:cNvPr id="66" name="TextBox 65"/>
          <p:cNvSpPr txBox="1"/>
          <p:nvPr/>
        </p:nvSpPr>
        <p:spPr>
          <a:xfrm>
            <a:off x="590550" y="4781550"/>
            <a:ext cx="3162300" cy="1238250"/>
          </a:xfrm>
          <a:prstGeom prst="rect">
            <a:avLst/>
          </a:prstGeom>
          <a:noFill/>
        </p:spPr>
        <p:txBody>
          <a:bodyPr wrap="square" lIns="0" rIns="0" tIns="0" bIns="0" anchor="t">
            <a:spAutoFit/>
          </a:bodyPr>
          <a:lstStyle/>
          <a:p>
            <a:pPr algn="l">
              <a:lnSpc>
                <a:spcPct val="128000"/>
              </a:lnSpc>
            </a:pPr>
            <a:r>
              <a:rPr sz="862" b="1">
                <a:solidFill>
                  <a:srgbClr val="4A5568"/>
                </a:solidFill>
                <a:latin typeface="Arial"/>
              </a:rPr>
              <a:t>a · the firewall</a:t>
            </a:r>
            <a:r>
              <a:rPr sz="862" b="0">
                <a:solidFill>
                  <a:srgbClr val="4A5568"/>
                </a:solidFill>
                <a:latin typeface="Arial"/>
              </a:rPr>
              <a:t> — raw numbers never re-enter an LLM, so there is nothing to redact and nothing to reject.
</a:t>
            </a:r>
            <a:r>
              <a:rPr sz="862" b="1">
                <a:solidFill>
                  <a:srgbClr val="4A5568"/>
                </a:solidFill>
                <a:latin typeface="Arial"/>
              </a:rPr>
              <a:t>b · faithfulness</a:t>
            </a:r>
            <a:r>
              <a:rPr sz="862" b="0">
                <a:solidFill>
                  <a:srgbClr val="4A5568"/>
                </a:solidFill>
                <a:latin typeface="Arial"/>
              </a:rPr>
              <a:t> — KB values exactly equal tool output. No drift, no hallucinated figure.</a:t>
            </a:r>
          </a:p>
        </p:txBody>
      </p:sp>
      <p:sp>
        <p:nvSpPr>
          <p:cNvPr id="67" name="Rectangle 66"/>
          <p:cNvSpPr/>
          <p:nvPr/>
        </p:nvSpPr>
        <p:spPr>
          <a:xfrm>
            <a:off x="4343400" y="4343400"/>
            <a:ext cx="3505200" cy="150495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8" name="Rectangle 67"/>
          <p:cNvSpPr/>
          <p:nvPr/>
        </p:nvSpPr>
        <p:spPr>
          <a:xfrm>
            <a:off x="4343400" y="4343400"/>
            <a:ext cx="38100" cy="150495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9" name="TextBox 68"/>
          <p:cNvSpPr txBox="1"/>
          <p:nvPr/>
        </p:nvSpPr>
        <p:spPr>
          <a:xfrm>
            <a:off x="4514850" y="4495800"/>
            <a:ext cx="3143250" cy="209550"/>
          </a:xfrm>
          <a:prstGeom prst="rect">
            <a:avLst/>
          </a:prstGeom>
          <a:noFill/>
        </p:spPr>
        <p:txBody>
          <a:bodyPr wrap="square" lIns="0" rIns="0" tIns="0" bIns="0" anchor="t">
            <a:spAutoFit/>
          </a:bodyPr>
          <a:lstStyle/>
          <a:p>
            <a:pPr algn="l">
              <a:lnSpc>
                <a:spcPct val="100000"/>
              </a:lnSpc>
            </a:pPr>
            <a:r>
              <a:rPr sz="1125" b="1">
                <a:solidFill>
                  <a:srgbClr val="00175A"/>
                </a:solidFill>
                <a:latin typeface="Arial"/>
              </a:rPr>
              <a:t>Auto-chart — no model call</a:t>
            </a:r>
          </a:p>
        </p:txBody>
      </p:sp>
      <p:sp>
        <p:nvSpPr>
          <p:cNvPr id="70" name="TextBox 69"/>
          <p:cNvSpPr txBox="1"/>
          <p:nvPr/>
        </p:nvSpPr>
        <p:spPr>
          <a:xfrm>
            <a:off x="4514850" y="4781550"/>
            <a:ext cx="3162300" cy="1238250"/>
          </a:xfrm>
          <a:prstGeom prst="rect">
            <a:avLst/>
          </a:prstGeom>
          <a:noFill/>
        </p:spPr>
        <p:txBody>
          <a:bodyPr wrap="square" lIns="0" rIns="0" tIns="0" bIns="0" anchor="t">
            <a:spAutoFit/>
          </a:bodyPr>
          <a:lstStyle/>
          <a:p>
            <a:pPr algn="l">
              <a:lnSpc>
                <a:spcPct val="128000"/>
              </a:lnSpc>
            </a:pPr>
            <a:r>
              <a:rPr sz="862" b="0">
                <a:solidFill>
                  <a:srgbClr val="4A5568"/>
                </a:solidFill>
                <a:latin typeface="Arial"/>
              </a:rPr>
              <a:t>Validate the tool-output schema → inject threshold lines from the data catalog → stream the spec over SSE → store the image </a:t>
            </a:r>
            <a:r>
              <a:rPr sz="862" b="1">
                <a:solidFill>
                  <a:srgbClr val="4A5568"/>
                </a:solidFill>
                <a:latin typeface="Arial"/>
              </a:rPr>
              <a:t>path</a:t>
            </a:r>
            <a:r>
              <a:rPr sz="862" b="0">
                <a:solidFill>
                  <a:srgbClr val="4A5568"/>
                </a:solidFill>
                <a:latin typeface="Arial"/>
              </a:rPr>
              <a:t>, not pixels. Deterministic end to end.</a:t>
            </a:r>
          </a:p>
        </p:txBody>
      </p:sp>
      <p:sp>
        <p:nvSpPr>
          <p:cNvPr id="71" name="Rectangle 70"/>
          <p:cNvSpPr/>
          <p:nvPr/>
        </p:nvSpPr>
        <p:spPr>
          <a:xfrm>
            <a:off x="8267700" y="4343400"/>
            <a:ext cx="3505200" cy="150495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2" name="Rectangle 71"/>
          <p:cNvSpPr/>
          <p:nvPr/>
        </p:nvSpPr>
        <p:spPr>
          <a:xfrm>
            <a:off x="8267700" y="4343400"/>
            <a:ext cx="38100" cy="150495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3" name="TextBox 72"/>
          <p:cNvSpPr txBox="1"/>
          <p:nvPr/>
        </p:nvSpPr>
        <p:spPr>
          <a:xfrm>
            <a:off x="8439150" y="4495800"/>
            <a:ext cx="3143250" cy="209550"/>
          </a:xfrm>
          <a:prstGeom prst="rect">
            <a:avLst/>
          </a:prstGeom>
          <a:noFill/>
        </p:spPr>
        <p:txBody>
          <a:bodyPr wrap="square" lIns="0" rIns="0" tIns="0" bIns="0" anchor="t">
            <a:spAutoFit/>
          </a:bodyPr>
          <a:lstStyle/>
          <a:p>
            <a:pPr algn="l">
              <a:lnSpc>
                <a:spcPct val="100000"/>
              </a:lnSpc>
            </a:pPr>
            <a:r>
              <a:rPr sz="1125" b="1">
                <a:solidFill>
                  <a:srgbClr val="00175A"/>
                </a:solidFill>
                <a:latin typeface="Arial"/>
              </a:rPr>
              <a:t>What the next turn gets</a:t>
            </a:r>
          </a:p>
        </p:txBody>
      </p:sp>
      <p:sp>
        <p:nvSpPr>
          <p:cNvPr id="74" name="TextBox 73"/>
          <p:cNvSpPr txBox="1"/>
          <p:nvPr/>
        </p:nvSpPr>
        <p:spPr>
          <a:xfrm>
            <a:off x="8439150" y="4781550"/>
            <a:ext cx="3162300" cy="1238250"/>
          </a:xfrm>
          <a:prstGeom prst="rect">
            <a:avLst/>
          </a:prstGeom>
          <a:noFill/>
        </p:spPr>
        <p:txBody>
          <a:bodyPr wrap="square" lIns="0" rIns="0" tIns="0" bIns="0" anchor="t">
            <a:spAutoFit/>
          </a:bodyPr>
          <a:lstStyle/>
          <a:p>
            <a:pPr algn="l">
              <a:lnSpc>
                <a:spcPct val="128000"/>
              </a:lnSpc>
            </a:pPr>
            <a:r>
              <a:rPr sz="862" b="0">
                <a:solidFill>
                  <a:srgbClr val="4A5568"/>
                </a:solidFill>
                <a:latin typeface="Arial"/>
              </a:rPr>
              <a:t>A follow-up reads the </a:t>
            </a:r>
            <a:r>
              <a:rPr sz="862" b="1">
                <a:solidFill>
                  <a:srgbClr val="4A5568"/>
                </a:solidFill>
                <a:latin typeface="Arial"/>
              </a:rPr>
              <a:t>exact numbers</a:t>
            </a:r>
            <a:r>
              <a:rPr sz="862" b="0">
                <a:solidFill>
                  <a:srgbClr val="4A5568"/>
                </a:solidFill>
                <a:latin typeface="Arial"/>
              </a:rPr>
              <a:t>, not a paraphrase of them — which is what makes the cross-case layer safe to build on.</a:t>
            </a:r>
          </a:p>
        </p:txBody>
      </p:sp>
      <p:cxnSp>
        <p:nvCxnSpPr>
          <p:cNvPr id="75" name="Connector 74"/>
          <p:cNvCxnSpPr/>
          <p:nvPr/>
        </p:nvCxnSpPr>
        <p:spPr>
          <a:xfrm>
            <a:off x="419100" y="632460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419100" y="6419850"/>
            <a:ext cx="11353800" cy="171450"/>
          </a:xfrm>
          <a:prstGeom prst="rect">
            <a:avLst/>
          </a:prstGeom>
          <a:noFill/>
        </p:spPr>
        <p:txBody>
          <a:bodyPr wrap="none" lIns="0" rIns="0" tIns="0" bIns="0" anchor="ctr">
            <a:spAutoFit/>
          </a:bodyPr>
          <a:lstStyle/>
          <a:p>
            <a:pPr algn="ctr">
              <a:lnSpc>
                <a:spcPct val="100000"/>
              </a:lnSpc>
            </a:pPr>
            <a:r>
              <a:rPr sz="862" b="0">
                <a:solidFill>
                  <a:srgbClr val="6B7A90"/>
                </a:solidFill>
                <a:latin typeface="Arial"/>
              </a:rPr>
              <a:t>The LLM writes </a:t>
            </a:r>
            <a:r>
              <a:rPr sz="862" b="1">
                <a:solidFill>
                  <a:srgbClr val="6B7A90"/>
                </a:solidFill>
                <a:latin typeface="Arial"/>
              </a:rPr>
              <a:t>what it means</a:t>
            </a:r>
            <a:r>
              <a:rPr sz="862" b="0">
                <a:solidFill>
                  <a:srgbClr val="6B7A90"/>
                </a:solidFill>
                <a:latin typeface="Arial"/>
              </a:rPr>
              <a:t>. The parser writes </a:t>
            </a:r>
            <a:r>
              <a:rPr sz="862" b="1">
                <a:solidFill>
                  <a:srgbClr val="6B7A90"/>
                </a:solidFill>
                <a:latin typeface="Arial"/>
              </a:rPr>
              <a:t>what it measured</a:t>
            </a:r>
            <a:r>
              <a:rPr sz="862" b="0">
                <a:solidFill>
                  <a:srgbClr val="6B7A90"/>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47625"/>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419100" y="209550"/>
            <a:ext cx="10477500" cy="400050"/>
          </a:xfrm>
          <a:prstGeom prst="rect">
            <a:avLst/>
          </a:prstGeom>
          <a:noFill/>
        </p:spPr>
        <p:txBody>
          <a:bodyPr wrap="none" lIns="0" rIns="0" tIns="0" bIns="0" anchor="ctr">
            <a:spAutoFit/>
          </a:bodyPr>
          <a:lstStyle/>
          <a:p>
            <a:pPr algn="l">
              <a:lnSpc>
                <a:spcPct val="100000"/>
              </a:lnSpc>
            </a:pPr>
            <a:r>
              <a:rPr sz="2400" b="1">
                <a:solidFill>
                  <a:srgbClr val="00175A"/>
                </a:solidFill>
                <a:latin typeface="Arial"/>
              </a:rPr>
              <a:t>Recovery | two failures, two machines</a:t>
            </a:r>
          </a:p>
        </p:txBody>
      </p:sp>
      <p:cxnSp>
        <p:nvCxnSpPr>
          <p:cNvPr id="4" name="Connector 3"/>
          <p:cNvCxnSpPr/>
          <p:nvPr/>
        </p:nvCxnSpPr>
        <p:spPr>
          <a:xfrm>
            <a:off x="419100" y="685800"/>
            <a:ext cx="11353800" cy="0"/>
          </a:xfrm>
          <a:prstGeom prst="line">
            <a:avLst/>
          </a:prstGeom>
          <a:ln w="12700">
            <a:solidFill>
              <a:srgbClr val="C7CFD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762500" y="914400"/>
            <a:ext cx="2667000" cy="41910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1125" b="1">
                <a:solidFill>
                  <a:srgbClr val="FFFFFF"/>
                </a:solidFill>
                <a:latin typeface="Arial"/>
              </a:rPr>
              <a:t>a turn goes wrong</a:t>
            </a:r>
          </a:p>
        </p:txBody>
      </p:sp>
      <p:cxnSp>
        <p:nvCxnSpPr>
          <p:cNvPr id="6" name="Connector 5"/>
          <p:cNvCxnSpPr/>
          <p:nvPr/>
        </p:nvCxnSpPr>
        <p:spPr>
          <a:xfrm flipH="1">
            <a:off x="3810000" y="1352550"/>
            <a:ext cx="1866900" cy="419100"/>
          </a:xfrm>
          <a:prstGeom prst="line">
            <a:avLst/>
          </a:prstGeom>
          <a:ln w="1778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515100" y="1352550"/>
            <a:ext cx="1866900" cy="419100"/>
          </a:xfrm>
          <a:prstGeom prst="line">
            <a:avLst/>
          </a:prstGeom>
          <a:ln w="1778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952500" y="1809750"/>
            <a:ext cx="4495800" cy="33909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Rectangle 8"/>
          <p:cNvSpPr/>
          <p:nvPr/>
        </p:nvSpPr>
        <p:spPr>
          <a:xfrm>
            <a:off x="952500" y="1809750"/>
            <a:ext cx="47625" cy="33909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1257300" y="2038350"/>
            <a:ext cx="4000500" cy="152400"/>
          </a:xfrm>
          <a:prstGeom prst="rect">
            <a:avLst/>
          </a:prstGeom>
          <a:noFill/>
        </p:spPr>
        <p:txBody>
          <a:bodyPr wrap="none" lIns="0" rIns="0" tIns="0" bIns="0" anchor="ctr">
            <a:spAutoFit/>
          </a:bodyPr>
          <a:lstStyle/>
          <a:p>
            <a:pPr algn="l">
              <a:lnSpc>
                <a:spcPct val="100000"/>
              </a:lnSpc>
            </a:pPr>
            <a:r>
              <a:rPr sz="787" b="1">
                <a:solidFill>
                  <a:srgbClr val="006FCF"/>
                </a:solidFill>
                <a:latin typeface="Arial"/>
              </a:rPr>
              <a:t>NOTHING CAME BACK</a:t>
            </a:r>
          </a:p>
        </p:txBody>
      </p:sp>
      <p:sp>
        <p:nvSpPr>
          <p:cNvPr id="11" name="TextBox 10"/>
          <p:cNvSpPr txBox="1"/>
          <p:nvPr/>
        </p:nvSpPr>
        <p:spPr>
          <a:xfrm>
            <a:off x="1257300" y="2286000"/>
            <a:ext cx="4000500" cy="381000"/>
          </a:xfrm>
          <a:prstGeom prst="rect">
            <a:avLst/>
          </a:prstGeom>
          <a:noFill/>
        </p:spPr>
        <p:txBody>
          <a:bodyPr wrap="none" lIns="0" rIns="0" tIns="0" bIns="0" anchor="ctr">
            <a:spAutoFit/>
          </a:bodyPr>
          <a:lstStyle/>
          <a:p>
            <a:pPr algn="l">
              <a:lnSpc>
                <a:spcPct val="100000"/>
              </a:lnSpc>
            </a:pPr>
            <a:r>
              <a:rPr sz="2100" b="1">
                <a:solidFill>
                  <a:srgbClr val="00175A"/>
                </a:solidFill>
                <a:latin typeface="Arial"/>
              </a:rPr>
              <a:t>Stall-and-retry</a:t>
            </a:r>
          </a:p>
        </p:txBody>
      </p:sp>
      <p:cxnSp>
        <p:nvCxnSpPr>
          <p:cNvPr id="12" name="Connector 11"/>
          <p:cNvCxnSpPr/>
          <p:nvPr/>
        </p:nvCxnSpPr>
        <p:spPr>
          <a:xfrm>
            <a:off x="1257300" y="2781300"/>
            <a:ext cx="914400" cy="0"/>
          </a:xfrm>
          <a:prstGeom prst="line">
            <a:avLst/>
          </a:prstGeom>
          <a:ln w="25400">
            <a:solidFill>
              <a:srgbClr val="006FC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257300" y="2914650"/>
            <a:ext cx="4000500" cy="228600"/>
          </a:xfrm>
          <a:prstGeom prst="rect">
            <a:avLst/>
          </a:prstGeom>
          <a:noFill/>
        </p:spPr>
        <p:txBody>
          <a:bodyPr wrap="none" lIns="0" rIns="0" tIns="0" bIns="0" anchor="ctr">
            <a:spAutoFit/>
          </a:bodyPr>
          <a:lstStyle/>
          <a:p>
            <a:pPr algn="l">
              <a:lnSpc>
                <a:spcPct val="100000"/>
              </a:lnSpc>
            </a:pPr>
            <a:r>
              <a:rPr sz="1125" b="0">
                <a:solidFill>
                  <a:srgbClr val="4A5568"/>
                </a:solidFill>
                <a:latin typeface="Arial"/>
              </a:rPr>
              <a:t>A clock decides.</a:t>
            </a:r>
          </a:p>
        </p:txBody>
      </p:sp>
      <p:sp>
        <p:nvSpPr>
          <p:cNvPr id="14" name="TextBox 13"/>
          <p:cNvSpPr txBox="1"/>
          <p:nvPr/>
        </p:nvSpPr>
        <p:spPr>
          <a:xfrm>
            <a:off x="1257300" y="3200400"/>
            <a:ext cx="4000500" cy="228600"/>
          </a:xfrm>
          <a:prstGeom prst="rect">
            <a:avLst/>
          </a:prstGeom>
          <a:noFill/>
        </p:spPr>
        <p:txBody>
          <a:bodyPr wrap="none" lIns="0" rIns="0" tIns="0" bIns="0" anchor="ctr">
            <a:spAutoFit/>
          </a:bodyPr>
          <a:lstStyle/>
          <a:p>
            <a:pPr algn="l">
              <a:lnSpc>
                <a:spcPct val="100000"/>
              </a:lnSpc>
            </a:pPr>
            <a:r>
              <a:rPr sz="1125" b="1">
                <a:solidFill>
                  <a:srgbClr val="00175A"/>
                </a:solidFill>
                <a:latin typeface="Arial"/>
              </a:rPr>
              <a:t>Retry the SAME request.</a:t>
            </a:r>
          </a:p>
        </p:txBody>
      </p:sp>
      <p:sp>
        <p:nvSpPr>
          <p:cNvPr id="15" name="Rectangle 14"/>
          <p:cNvSpPr/>
          <p:nvPr/>
        </p:nvSpPr>
        <p:spPr>
          <a:xfrm>
            <a:off x="1257300" y="3714750"/>
            <a:ext cx="3886200" cy="11811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1428750" y="3924300"/>
            <a:ext cx="3581400" cy="800100"/>
          </a:xfrm>
          <a:prstGeom prst="rect">
            <a:avLst/>
          </a:prstGeom>
          <a:noFill/>
        </p:spPr>
        <p:txBody>
          <a:bodyPr wrap="square" lIns="0" rIns="0" tIns="0" bIns="0" anchor="t">
            <a:spAutoFit/>
          </a:bodyPr>
          <a:lstStyle/>
          <a:p>
            <a:pPr algn="l">
              <a:lnSpc>
                <a:spcPct val="130000"/>
              </a:lnSpc>
            </a:pPr>
            <a:r>
              <a:rPr sz="937" b="0">
                <a:solidFill>
                  <a:srgbClr val="4A5568"/>
                </a:solidFill>
                <a:latin typeface="Arial"/>
              </a:rPr>
              <a:t>The call goes quiet — abandon it and re-issue, instead of waiting out the budget.</a:t>
            </a:r>
          </a:p>
        </p:txBody>
      </p:sp>
      <p:sp>
        <p:nvSpPr>
          <p:cNvPr id="17" name="Rectangle 16"/>
          <p:cNvSpPr/>
          <p:nvPr/>
        </p:nvSpPr>
        <p:spPr>
          <a:xfrm>
            <a:off x="6743700" y="1809750"/>
            <a:ext cx="4495800" cy="33909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6743700" y="1809750"/>
            <a:ext cx="47625" cy="3390900"/>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7048500" y="2038350"/>
            <a:ext cx="4000500" cy="152400"/>
          </a:xfrm>
          <a:prstGeom prst="rect">
            <a:avLst/>
          </a:prstGeom>
          <a:noFill/>
        </p:spPr>
        <p:txBody>
          <a:bodyPr wrap="none" lIns="0" rIns="0" tIns="0" bIns="0" anchor="ctr">
            <a:spAutoFit/>
          </a:bodyPr>
          <a:lstStyle/>
          <a:p>
            <a:pPr algn="l">
              <a:lnSpc>
                <a:spcPct val="100000"/>
              </a:lnSpc>
            </a:pPr>
            <a:r>
              <a:rPr sz="787" b="1">
                <a:solidFill>
                  <a:srgbClr val="0B8A5F"/>
                </a:solidFill>
                <a:latin typeface="Arial"/>
              </a:rPr>
              <a:t>SOMETHING CAME BACK — AND IT'S WRONG</a:t>
            </a:r>
          </a:p>
        </p:txBody>
      </p:sp>
      <p:sp>
        <p:nvSpPr>
          <p:cNvPr id="20" name="TextBox 19"/>
          <p:cNvSpPr txBox="1"/>
          <p:nvPr/>
        </p:nvSpPr>
        <p:spPr>
          <a:xfrm>
            <a:off x="7048500" y="2286000"/>
            <a:ext cx="4000500" cy="381000"/>
          </a:xfrm>
          <a:prstGeom prst="rect">
            <a:avLst/>
          </a:prstGeom>
          <a:noFill/>
        </p:spPr>
        <p:txBody>
          <a:bodyPr wrap="none" lIns="0" rIns="0" tIns="0" bIns="0" anchor="ctr">
            <a:spAutoFit/>
          </a:bodyPr>
          <a:lstStyle/>
          <a:p>
            <a:pPr algn="l">
              <a:lnSpc>
                <a:spcPct val="100000"/>
              </a:lnSpc>
            </a:pPr>
            <a:r>
              <a:rPr sz="2100" b="1">
                <a:solidFill>
                  <a:srgbClr val="00175A"/>
                </a:solidFill>
                <a:latin typeface="Arial"/>
              </a:rPr>
              <a:t>Self-recovery</a:t>
            </a:r>
          </a:p>
        </p:txBody>
      </p:sp>
      <p:cxnSp>
        <p:nvCxnSpPr>
          <p:cNvPr id="21" name="Connector 20"/>
          <p:cNvCxnSpPr/>
          <p:nvPr/>
        </p:nvCxnSpPr>
        <p:spPr>
          <a:xfrm>
            <a:off x="7048500" y="2781300"/>
            <a:ext cx="914400" cy="0"/>
          </a:xfrm>
          <a:prstGeom prst="line">
            <a:avLst/>
          </a:prstGeom>
          <a:ln w="25400">
            <a:solidFill>
              <a:srgbClr val="0B8A5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048500" y="2914650"/>
            <a:ext cx="4000500" cy="228600"/>
          </a:xfrm>
          <a:prstGeom prst="rect">
            <a:avLst/>
          </a:prstGeom>
          <a:noFill/>
        </p:spPr>
        <p:txBody>
          <a:bodyPr wrap="none" lIns="0" rIns="0" tIns="0" bIns="0" anchor="ctr">
            <a:spAutoFit/>
          </a:bodyPr>
          <a:lstStyle/>
          <a:p>
            <a:pPr algn="l">
              <a:lnSpc>
                <a:spcPct val="100000"/>
              </a:lnSpc>
            </a:pPr>
            <a:r>
              <a:rPr sz="1125" b="0">
                <a:solidFill>
                  <a:srgbClr val="4A5568"/>
                </a:solidFill>
                <a:latin typeface="Arial"/>
              </a:rPr>
              <a:t>The content decides.</a:t>
            </a:r>
          </a:p>
        </p:txBody>
      </p:sp>
      <p:sp>
        <p:nvSpPr>
          <p:cNvPr id="23" name="TextBox 22"/>
          <p:cNvSpPr txBox="1"/>
          <p:nvPr/>
        </p:nvSpPr>
        <p:spPr>
          <a:xfrm>
            <a:off x="7048500" y="3200400"/>
            <a:ext cx="4000500" cy="228600"/>
          </a:xfrm>
          <a:prstGeom prst="rect">
            <a:avLst/>
          </a:prstGeom>
          <a:noFill/>
        </p:spPr>
        <p:txBody>
          <a:bodyPr wrap="none" lIns="0" rIns="0" tIns="0" bIns="0" anchor="ctr">
            <a:spAutoFit/>
          </a:bodyPr>
          <a:lstStyle/>
          <a:p>
            <a:pPr algn="l">
              <a:lnSpc>
                <a:spcPct val="100000"/>
              </a:lnSpc>
            </a:pPr>
            <a:r>
              <a:rPr sz="1125" b="1">
                <a:solidFill>
                  <a:srgbClr val="00175A"/>
                </a:solidFill>
                <a:latin typeface="Arial"/>
              </a:rPr>
              <a:t>Retry with a CHANGED input.</a:t>
            </a:r>
          </a:p>
        </p:txBody>
      </p:sp>
      <p:sp>
        <p:nvSpPr>
          <p:cNvPr id="24" name="Rectangle 23"/>
          <p:cNvSpPr/>
          <p:nvPr/>
        </p:nvSpPr>
        <p:spPr>
          <a:xfrm>
            <a:off x="7048500" y="3714750"/>
            <a:ext cx="3886200" cy="11811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7219950" y="3924300"/>
            <a:ext cx="3581400" cy="800100"/>
          </a:xfrm>
          <a:prstGeom prst="rect">
            <a:avLst/>
          </a:prstGeom>
          <a:noFill/>
        </p:spPr>
        <p:txBody>
          <a:bodyPr wrap="square" lIns="0" rIns="0" tIns="0" bIns="0" anchor="t">
            <a:spAutoFit/>
          </a:bodyPr>
          <a:lstStyle/>
          <a:p>
            <a:pPr algn="l">
              <a:lnSpc>
                <a:spcPct val="130000"/>
              </a:lnSpc>
            </a:pPr>
            <a:r>
              <a:rPr sz="937" b="0">
                <a:solidFill>
                  <a:srgbClr val="4A5568"/>
                </a:solidFill>
                <a:latin typeface="Arial"/>
              </a:rPr>
              <a:t>The answer denies rows the tool returned — re-read what it already has, don't re-query.</a:t>
            </a:r>
          </a:p>
        </p:txBody>
      </p:sp>
      <p:cxnSp>
        <p:nvCxnSpPr>
          <p:cNvPr id="26" name="Connector 25"/>
          <p:cNvCxnSpPr/>
          <p:nvPr/>
        </p:nvCxnSpPr>
        <p:spPr>
          <a:xfrm>
            <a:off x="419100" y="556260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19100" y="5791200"/>
            <a:ext cx="11353800" cy="285750"/>
          </a:xfrm>
          <a:prstGeom prst="rect">
            <a:avLst/>
          </a:prstGeom>
          <a:noFill/>
        </p:spPr>
        <p:txBody>
          <a:bodyPr wrap="none" lIns="0" rIns="0" tIns="0" bIns="0" anchor="ctr">
            <a:spAutoFit/>
          </a:bodyPr>
          <a:lstStyle/>
          <a:p>
            <a:pPr algn="ctr">
              <a:lnSpc>
                <a:spcPct val="100000"/>
              </a:lnSpc>
            </a:pPr>
            <a:r>
              <a:rPr sz="1275" b="0">
                <a:solidFill>
                  <a:srgbClr val="4A5568"/>
                </a:solidFill>
                <a:latin typeface="Arial"/>
              </a:rPr>
              <a:t>Same word — </a:t>
            </a:r>
            <a:r>
              <a:rPr sz="1275" b="1">
                <a:solidFill>
                  <a:srgbClr val="4A5568"/>
                </a:solidFill>
                <a:latin typeface="Arial"/>
              </a:rPr>
              <a:t>retry</a:t>
            </a:r>
            <a:r>
              <a:rPr sz="1275" b="0">
                <a:solidFill>
                  <a:srgbClr val="4A5568"/>
                </a:solidFill>
                <a:latin typeface="Arial"/>
              </a:rPr>
              <a:t>.  Opposite mechanics: </a:t>
            </a:r>
            <a:r>
              <a:rPr sz="1275" b="1">
                <a:solidFill>
                  <a:srgbClr val="4A5568"/>
                </a:solidFill>
                <a:latin typeface="Arial"/>
              </a:rPr>
              <a:t>one repeats the request, the other changes it.</a:t>
            </a:r>
          </a:p>
        </p:txBody>
      </p:sp>
      <p:sp>
        <p:nvSpPr>
          <p:cNvPr id="28" name="TextBox 27"/>
          <p:cNvSpPr txBox="1"/>
          <p:nvPr/>
        </p:nvSpPr>
        <p:spPr>
          <a:xfrm>
            <a:off x="419100" y="6210300"/>
            <a:ext cx="11353800" cy="190500"/>
          </a:xfrm>
          <a:prstGeom prst="rect">
            <a:avLst/>
          </a:prstGeom>
          <a:noFill/>
        </p:spPr>
        <p:txBody>
          <a:bodyPr wrap="none" lIns="0" rIns="0" tIns="0" bIns="0" anchor="ctr">
            <a:spAutoFit/>
          </a:bodyPr>
          <a:lstStyle/>
          <a:p>
            <a:pPr algn="ctr">
              <a:lnSpc>
                <a:spcPct val="100000"/>
              </a:lnSpc>
            </a:pPr>
            <a:r>
              <a:rPr sz="900" b="0">
                <a:solidFill>
                  <a:srgbClr val="6B7A90"/>
                </a:solidFill>
                <a:latin typeface="Arial"/>
              </a:rPr>
              <a:t>An identical retry only helps when the failure was transient.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47625"/>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419100" y="209550"/>
            <a:ext cx="10477500" cy="400050"/>
          </a:xfrm>
          <a:prstGeom prst="rect">
            <a:avLst/>
          </a:prstGeom>
          <a:noFill/>
        </p:spPr>
        <p:txBody>
          <a:bodyPr wrap="none" lIns="0" rIns="0" tIns="0" bIns="0" anchor="ctr">
            <a:spAutoFit/>
          </a:bodyPr>
          <a:lstStyle/>
          <a:p>
            <a:pPr algn="l">
              <a:lnSpc>
                <a:spcPct val="100000"/>
              </a:lnSpc>
            </a:pPr>
            <a:r>
              <a:rPr sz="2400" b="1">
                <a:solidFill>
                  <a:srgbClr val="00175A"/>
                </a:solidFill>
                <a:latin typeface="Arial"/>
              </a:rPr>
              <a:t>Recovery | the mechanism</a:t>
            </a:r>
          </a:p>
        </p:txBody>
      </p:sp>
      <p:cxnSp>
        <p:nvCxnSpPr>
          <p:cNvPr id="4" name="Connector 3"/>
          <p:cNvCxnSpPr/>
          <p:nvPr/>
        </p:nvCxnSpPr>
        <p:spPr>
          <a:xfrm>
            <a:off x="419100" y="685800"/>
            <a:ext cx="11353800" cy="0"/>
          </a:xfrm>
          <a:prstGeom prst="line">
            <a:avLst/>
          </a:prstGeom>
          <a:ln w="12700">
            <a:solidFill>
              <a:srgbClr val="C7CFD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9100" y="800100"/>
            <a:ext cx="3810000" cy="133350"/>
          </a:xfrm>
          <a:prstGeom prst="rect">
            <a:avLst/>
          </a:prstGeom>
          <a:noFill/>
        </p:spPr>
        <p:txBody>
          <a:bodyPr wrap="none" lIns="0" rIns="0" tIns="0" bIns="0" anchor="ctr">
            <a:spAutoFit/>
          </a:bodyPr>
          <a:lstStyle/>
          <a:p>
            <a:pPr algn="l">
              <a:lnSpc>
                <a:spcPct val="100000"/>
              </a:lnSpc>
            </a:pPr>
            <a:r>
              <a:rPr sz="825" b="1">
                <a:solidFill>
                  <a:srgbClr val="006FCF"/>
                </a:solidFill>
                <a:latin typeface="Arial"/>
              </a:rPr>
              <a:t>S T A L L - A N D - R E T R Y</a:t>
            </a:r>
          </a:p>
        </p:txBody>
      </p:sp>
      <p:sp>
        <p:nvSpPr>
          <p:cNvPr id="6" name="TextBox 5"/>
          <p:cNvSpPr txBox="1"/>
          <p:nvPr/>
        </p:nvSpPr>
        <p:spPr>
          <a:xfrm>
            <a:off x="419100" y="971550"/>
            <a:ext cx="3810000" cy="133350"/>
          </a:xfrm>
          <a:prstGeom prst="rect">
            <a:avLst/>
          </a:prstGeom>
          <a:noFill/>
        </p:spPr>
        <p:txBody>
          <a:bodyPr wrap="none" lIns="0" rIns="0" tIns="0" bIns="0" anchor="ctr">
            <a:spAutoFit/>
          </a:bodyPr>
          <a:lstStyle/>
          <a:p>
            <a:pPr algn="l">
              <a:lnSpc>
                <a:spcPct val="100000"/>
              </a:lnSpc>
            </a:pPr>
            <a:r>
              <a:rPr sz="862" b="0">
                <a:solidFill>
                  <a:srgbClr val="4A5568"/>
                </a:solidFill>
                <a:latin typeface="Arial"/>
              </a:rPr>
              <a:t>did anything come back?   —   a clock decides</a:t>
            </a:r>
          </a:p>
        </p:txBody>
      </p:sp>
      <p:sp>
        <p:nvSpPr>
          <p:cNvPr id="7" name="Rectangle 6"/>
          <p:cNvSpPr/>
          <p:nvPr/>
        </p:nvSpPr>
        <p:spPr>
          <a:xfrm>
            <a:off x="419100" y="1200150"/>
            <a:ext cx="5448300" cy="30480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ectangle 7"/>
          <p:cNvSpPr/>
          <p:nvPr/>
        </p:nvSpPr>
        <p:spPr>
          <a:xfrm>
            <a:off x="419100" y="1200150"/>
            <a:ext cx="38100" cy="30480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552450" y="1200150"/>
            <a:ext cx="742950" cy="3048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TURN</a:t>
            </a:r>
          </a:p>
        </p:txBody>
      </p:sp>
      <p:sp>
        <p:nvSpPr>
          <p:cNvPr id="10" name="TextBox 9"/>
          <p:cNvSpPr txBox="1"/>
          <p:nvPr/>
        </p:nvSpPr>
        <p:spPr>
          <a:xfrm>
            <a:off x="1333500" y="1200150"/>
            <a:ext cx="3638550" cy="304800"/>
          </a:xfrm>
          <a:prstGeom prst="rect">
            <a:avLst/>
          </a:prstGeom>
          <a:noFill/>
        </p:spPr>
        <p:txBody>
          <a:bodyPr wrap="none" lIns="0" rIns="0" tIns="0" bIns="0" anchor="ctr">
            <a:spAutoFit/>
          </a:bodyPr>
          <a:lstStyle/>
          <a:p>
            <a:pPr algn="l">
              <a:lnSpc>
                <a:spcPct val="100000"/>
              </a:lnSpc>
            </a:pPr>
            <a:r>
              <a:rPr sz="637" b="0">
                <a:solidFill>
                  <a:srgbClr val="4A5568"/>
                </a:solidFill>
                <a:latin typeface="Arial"/>
              </a:rPr>
              <a:t>360s · cancelled — every agent in flight dies with it</a:t>
            </a:r>
          </a:p>
        </p:txBody>
      </p:sp>
      <p:sp>
        <p:nvSpPr>
          <p:cNvPr id="11" name="TextBox 10"/>
          <p:cNvSpPr txBox="1"/>
          <p:nvPr/>
        </p:nvSpPr>
        <p:spPr>
          <a:xfrm>
            <a:off x="5048250" y="1200150"/>
            <a:ext cx="723900" cy="304800"/>
          </a:xfrm>
          <a:prstGeom prst="rect">
            <a:avLst/>
          </a:prstGeom>
          <a:noFill/>
        </p:spPr>
        <p:txBody>
          <a:bodyPr wrap="none" lIns="0" rIns="0" tIns="0" bIns="0" anchor="ctr">
            <a:spAutoFit/>
          </a:bodyPr>
          <a:lstStyle/>
          <a:p>
            <a:pPr algn="r">
              <a:lnSpc>
                <a:spcPct val="100000"/>
              </a:lnSpc>
            </a:pPr>
            <a:r>
              <a:rPr sz="637" b="1">
                <a:solidFill>
                  <a:srgbClr val="006FCF"/>
                </a:solidFill>
                <a:latin typeface="Arial"/>
              </a:rPr>
              <a:t>no retry</a:t>
            </a:r>
          </a:p>
        </p:txBody>
      </p:sp>
      <p:sp>
        <p:nvSpPr>
          <p:cNvPr id="12" name="Rectangle 11"/>
          <p:cNvSpPr/>
          <p:nvPr/>
        </p:nvSpPr>
        <p:spPr>
          <a:xfrm>
            <a:off x="571500" y="1562100"/>
            <a:ext cx="5295900" cy="30480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571500" y="1562100"/>
            <a:ext cx="38100" cy="30480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704850" y="1562100"/>
            <a:ext cx="742950" cy="3048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PHASE</a:t>
            </a:r>
          </a:p>
        </p:txBody>
      </p:sp>
      <p:sp>
        <p:nvSpPr>
          <p:cNvPr id="15" name="TextBox 14"/>
          <p:cNvSpPr txBox="1"/>
          <p:nvPr/>
        </p:nvSpPr>
        <p:spPr>
          <a:xfrm>
            <a:off x="1485900" y="1562100"/>
            <a:ext cx="3486150" cy="304800"/>
          </a:xfrm>
          <a:prstGeom prst="rect">
            <a:avLst/>
          </a:prstGeom>
          <a:noFill/>
        </p:spPr>
        <p:txBody>
          <a:bodyPr wrap="none" lIns="0" rIns="0" tIns="0" bIns="0" anchor="ctr">
            <a:spAutoFit/>
          </a:bodyPr>
          <a:lstStyle/>
          <a:p>
            <a:pPr algn="l">
              <a:lnSpc>
                <a:spcPct val="100000"/>
              </a:lnSpc>
            </a:pPr>
            <a:r>
              <a:rPr sz="637" b="0">
                <a:solidFill>
                  <a:srgbClr val="4A5568"/>
                </a:solidFill>
                <a:latin typeface="Arial"/>
              </a:rPr>
              <a:t>screen 30s · orch_plan 25s · reviewer 120s · specialist 240s</a:t>
            </a:r>
          </a:p>
        </p:txBody>
      </p:sp>
      <p:sp>
        <p:nvSpPr>
          <p:cNvPr id="16" name="TextBox 15"/>
          <p:cNvSpPr txBox="1"/>
          <p:nvPr/>
        </p:nvSpPr>
        <p:spPr>
          <a:xfrm>
            <a:off x="5048250" y="1562100"/>
            <a:ext cx="723900" cy="304800"/>
          </a:xfrm>
          <a:prstGeom prst="rect">
            <a:avLst/>
          </a:prstGeom>
          <a:noFill/>
        </p:spPr>
        <p:txBody>
          <a:bodyPr wrap="none" lIns="0" rIns="0" tIns="0" bIns="0" anchor="ctr">
            <a:spAutoFit/>
          </a:bodyPr>
          <a:lstStyle/>
          <a:p>
            <a:pPr algn="r">
              <a:lnSpc>
                <a:spcPct val="100000"/>
              </a:lnSpc>
            </a:pPr>
            <a:r>
              <a:rPr sz="637" b="1">
                <a:solidFill>
                  <a:srgbClr val="006FCF"/>
                </a:solidFill>
                <a:latin typeface="Arial"/>
              </a:rPr>
              <a:t>2 retry</a:t>
            </a:r>
          </a:p>
        </p:txBody>
      </p:sp>
      <p:sp>
        <p:nvSpPr>
          <p:cNvPr id="17" name="Rectangle 16"/>
          <p:cNvSpPr/>
          <p:nvPr/>
        </p:nvSpPr>
        <p:spPr>
          <a:xfrm>
            <a:off x="723900" y="1924050"/>
            <a:ext cx="5143500" cy="30480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723900" y="1924050"/>
            <a:ext cx="38100" cy="3048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857250" y="1924050"/>
            <a:ext cx="742950" cy="3048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AGENT</a:t>
            </a:r>
          </a:p>
        </p:txBody>
      </p:sp>
      <p:sp>
        <p:nvSpPr>
          <p:cNvPr id="20" name="TextBox 19"/>
          <p:cNvSpPr txBox="1"/>
          <p:nvPr/>
        </p:nvSpPr>
        <p:spPr>
          <a:xfrm>
            <a:off x="1638300" y="1924050"/>
            <a:ext cx="3333750" cy="304800"/>
          </a:xfrm>
          <a:prstGeom prst="rect">
            <a:avLst/>
          </a:prstGeom>
          <a:noFill/>
        </p:spPr>
        <p:txBody>
          <a:bodyPr wrap="none" lIns="0" rIns="0" tIns="0" bIns="0" anchor="ctr">
            <a:spAutoFit/>
          </a:bodyPr>
          <a:lstStyle/>
          <a:p>
            <a:pPr algn="l">
              <a:lnSpc>
                <a:spcPct val="100000"/>
              </a:lnSpc>
            </a:pPr>
            <a:r>
              <a:rPr sz="637" b="0">
                <a:solidFill>
                  <a:srgbClr val="4A5568"/>
                </a:solidFill>
                <a:latin typeface="Arial"/>
              </a:rPr>
              <a:t>the whole agentic loop re-runs</a:t>
            </a:r>
          </a:p>
        </p:txBody>
      </p:sp>
      <p:sp>
        <p:nvSpPr>
          <p:cNvPr id="21" name="TextBox 20"/>
          <p:cNvSpPr txBox="1"/>
          <p:nvPr/>
        </p:nvSpPr>
        <p:spPr>
          <a:xfrm>
            <a:off x="5048250" y="1924050"/>
            <a:ext cx="723900" cy="304800"/>
          </a:xfrm>
          <a:prstGeom prst="rect">
            <a:avLst/>
          </a:prstGeom>
          <a:noFill/>
        </p:spPr>
        <p:txBody>
          <a:bodyPr wrap="none" lIns="0" rIns="0" tIns="0" bIns="0" anchor="ctr">
            <a:spAutoFit/>
          </a:bodyPr>
          <a:lstStyle/>
          <a:p>
            <a:pPr algn="r">
              <a:lnSpc>
                <a:spcPct val="100000"/>
              </a:lnSpc>
            </a:pPr>
            <a:r>
              <a:rPr sz="637" b="1">
                <a:solidFill>
                  <a:srgbClr val="006FCF"/>
                </a:solidFill>
                <a:latin typeface="Arial"/>
              </a:rPr>
              <a:t>2 attempts</a:t>
            </a:r>
          </a:p>
        </p:txBody>
      </p:sp>
      <p:sp>
        <p:nvSpPr>
          <p:cNvPr id="22" name="Rectangle 21"/>
          <p:cNvSpPr/>
          <p:nvPr/>
        </p:nvSpPr>
        <p:spPr>
          <a:xfrm>
            <a:off x="876300" y="2286000"/>
            <a:ext cx="4991100" cy="30480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Rectangle 22"/>
          <p:cNvSpPr/>
          <p:nvPr/>
        </p:nvSpPr>
        <p:spPr>
          <a:xfrm>
            <a:off x="876300" y="2286000"/>
            <a:ext cx="38100" cy="3048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1009650" y="2286000"/>
            <a:ext cx="742950" cy="304800"/>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CALL</a:t>
            </a:r>
          </a:p>
        </p:txBody>
      </p:sp>
      <p:sp>
        <p:nvSpPr>
          <p:cNvPr id="25" name="TextBox 24"/>
          <p:cNvSpPr txBox="1"/>
          <p:nvPr/>
        </p:nvSpPr>
        <p:spPr>
          <a:xfrm>
            <a:off x="1790700" y="2286000"/>
            <a:ext cx="3181350" cy="304800"/>
          </a:xfrm>
          <a:prstGeom prst="rect">
            <a:avLst/>
          </a:prstGeom>
          <a:noFill/>
        </p:spPr>
        <p:txBody>
          <a:bodyPr wrap="none" lIns="0" rIns="0" tIns="0" bIns="0" anchor="ctr">
            <a:spAutoFit/>
          </a:bodyPr>
          <a:lstStyle/>
          <a:p>
            <a:pPr algn="l">
              <a:lnSpc>
                <a:spcPct val="100000"/>
              </a:lnSpc>
            </a:pPr>
            <a:r>
              <a:rPr sz="637" b="0">
                <a:solidFill>
                  <a:srgbClr val="4A5568"/>
                </a:solidFill>
                <a:latin typeface="Arial"/>
              </a:rPr>
              <a:t>stall fence 40s → abandon and re-issue</a:t>
            </a:r>
          </a:p>
        </p:txBody>
      </p:sp>
      <p:sp>
        <p:nvSpPr>
          <p:cNvPr id="26" name="TextBox 25"/>
          <p:cNvSpPr txBox="1"/>
          <p:nvPr/>
        </p:nvSpPr>
        <p:spPr>
          <a:xfrm>
            <a:off x="5048250" y="2286000"/>
            <a:ext cx="723900" cy="304800"/>
          </a:xfrm>
          <a:prstGeom prst="rect">
            <a:avLst/>
          </a:prstGeom>
          <a:noFill/>
        </p:spPr>
        <p:txBody>
          <a:bodyPr wrap="none" lIns="0" rIns="0" tIns="0" bIns="0" anchor="ctr">
            <a:spAutoFit/>
          </a:bodyPr>
          <a:lstStyle/>
          <a:p>
            <a:pPr algn="r">
              <a:lnSpc>
                <a:spcPct val="100000"/>
              </a:lnSpc>
            </a:pPr>
            <a:r>
              <a:rPr sz="637" b="1">
                <a:solidFill>
                  <a:srgbClr val="006FCF"/>
                </a:solidFill>
                <a:latin typeface="Arial"/>
              </a:rPr>
              <a:t>once</a:t>
            </a:r>
          </a:p>
        </p:txBody>
      </p:sp>
      <p:sp>
        <p:nvSpPr>
          <p:cNvPr id="27" name="TextBox 26"/>
          <p:cNvSpPr txBox="1"/>
          <p:nvPr/>
        </p:nvSpPr>
        <p:spPr>
          <a:xfrm>
            <a:off x="419100" y="2686050"/>
            <a:ext cx="5448300" cy="133350"/>
          </a:xfrm>
          <a:prstGeom prst="rect">
            <a:avLst/>
          </a:prstGeom>
          <a:noFill/>
        </p:spPr>
        <p:txBody>
          <a:bodyPr wrap="none" lIns="0" rIns="0" tIns="0" bIns="0" anchor="ctr">
            <a:spAutoFit/>
          </a:bodyPr>
          <a:lstStyle/>
          <a:p>
            <a:pPr algn="l">
              <a:lnSpc>
                <a:spcPct val="100000"/>
              </a:lnSpc>
            </a:pPr>
            <a:r>
              <a:rPr sz="712" b="0">
                <a:solidFill>
                  <a:srgbClr val="6B7A90"/>
                </a:solidFill>
                <a:latin typeface="Arial"/>
              </a:rPr>
              <a:t>phase expiry = that agent failed; </a:t>
            </a:r>
            <a:r>
              <a:rPr sz="712" b="1">
                <a:solidFill>
                  <a:srgbClr val="6B7A90"/>
                </a:solidFill>
                <a:latin typeface="Arial"/>
              </a:rPr>
              <a:t>the turn continues, degraded</a:t>
            </a:r>
          </a:p>
        </p:txBody>
      </p:sp>
      <p:sp>
        <p:nvSpPr>
          <p:cNvPr id="28" name="Rectangle 27"/>
          <p:cNvSpPr/>
          <p:nvPr/>
        </p:nvSpPr>
        <p:spPr>
          <a:xfrm>
            <a:off x="419100" y="2895600"/>
            <a:ext cx="5448300" cy="9144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Rectangle 28"/>
          <p:cNvSpPr/>
          <p:nvPr/>
        </p:nvSpPr>
        <p:spPr>
          <a:xfrm>
            <a:off x="419100" y="2895600"/>
            <a:ext cx="38100" cy="9144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571500" y="2971800"/>
            <a:ext cx="5143500" cy="133350"/>
          </a:xfrm>
          <a:prstGeom prst="rect">
            <a:avLst/>
          </a:prstGeom>
          <a:noFill/>
        </p:spPr>
        <p:txBody>
          <a:bodyPr wrap="none" lIns="0" rIns="0" tIns="0" bIns="0" anchor="ctr">
            <a:spAutoFit/>
          </a:bodyPr>
          <a:lstStyle/>
          <a:p>
            <a:pPr algn="l">
              <a:lnSpc>
                <a:spcPct val="100000"/>
              </a:lnSpc>
            </a:pPr>
            <a:r>
              <a:rPr sz="787" b="1">
                <a:solidFill>
                  <a:srgbClr val="00175A"/>
                </a:solidFill>
                <a:latin typeface="Arial"/>
              </a:rPr>
              <a:t>measured: safechain calls do not run slow — </a:t>
            </a:r>
            <a:r>
              <a:rPr sz="787" b="1">
                <a:solidFill>
                  <a:srgbClr val="00175A"/>
                </a:solidFill>
                <a:latin typeface="Arial"/>
              </a:rPr>
              <a:t>they stall</a:t>
            </a:r>
          </a:p>
        </p:txBody>
      </p:sp>
      <p:sp>
        <p:nvSpPr>
          <p:cNvPr id="31" name="TextBox 30"/>
          <p:cNvSpPr txBox="1"/>
          <p:nvPr/>
        </p:nvSpPr>
        <p:spPr>
          <a:xfrm>
            <a:off x="571500" y="3162300"/>
            <a:ext cx="5143500" cy="438150"/>
          </a:xfrm>
          <a:prstGeom prst="rect">
            <a:avLst/>
          </a:prstGeom>
          <a:noFill/>
        </p:spPr>
        <p:txBody>
          <a:bodyPr wrap="none" lIns="76200" rIns="0" tIns="0" bIns="0" anchor="t">
            <a:spAutoFit/>
          </a:bodyPr>
          <a:lstStyle/>
          <a:p>
            <a:pPr>
              <a:lnSpc>
                <a:spcPct val="122000"/>
              </a:lnSpc>
            </a:pPr>
            <a:r>
              <a:rPr sz="600" b="0">
                <a:solidFill>
                  <a:srgbClr val="4A5568"/>
                </a:solidFill>
                <a:latin typeface="Consolas"/>
              </a:rPr>
              <a:t>report_agent         100.01s   ← its fence was 100</a:t>
            </a:r>
          </a:p>
          <a:p>
            <a:pPr>
              <a:lnSpc>
                <a:spcPct val="122000"/>
              </a:lnSpc>
            </a:pPr>
            <a:r>
              <a:rPr sz="600" b="0">
                <a:solidFill>
                  <a:srgbClr val="4A5568"/>
                </a:solidFill>
                <a:latin typeface="Consolas"/>
              </a:rPr>
              <a:t>distiller.modeling   120.01s   ← distiller_s = 120</a:t>
            </a:r>
          </a:p>
          <a:p>
            <a:pPr>
              <a:lnSpc>
                <a:spcPct val="122000"/>
              </a:lnSpc>
            </a:pPr>
            <a:r>
              <a:rPr sz="600" b="0">
                <a:solidFill>
                  <a:srgbClr val="4A5568"/>
                </a:solidFill>
                <a:latin typeface="Consolas"/>
              </a:rPr>
              <a:t>general_specialist    25.00s   ← orch_plan_s = 25</a:t>
            </a:r>
          </a:p>
        </p:txBody>
      </p:sp>
      <p:sp>
        <p:nvSpPr>
          <p:cNvPr id="32" name="TextBox 31"/>
          <p:cNvSpPr txBox="1"/>
          <p:nvPr/>
        </p:nvSpPr>
        <p:spPr>
          <a:xfrm>
            <a:off x="571500" y="3619500"/>
            <a:ext cx="5143500" cy="133350"/>
          </a:xfrm>
          <a:prstGeom prst="rect">
            <a:avLst/>
          </a:prstGeom>
          <a:noFill/>
        </p:spPr>
        <p:txBody>
          <a:bodyPr wrap="square" lIns="0" rIns="0" tIns="0" bIns="0" anchor="ctr">
            <a:spAutoFit/>
          </a:bodyPr>
          <a:lstStyle/>
          <a:p>
            <a:pPr algn="l">
              <a:lnSpc>
                <a:spcPct val="100000"/>
              </a:lnSpc>
            </a:pPr>
            <a:r>
              <a:rPr sz="637" b="0">
                <a:solidFill>
                  <a:srgbClr val="6B7A90"/>
                </a:solidFill>
                <a:latin typeface="Arial"/>
              </a:rPr>
              <a:t>every failure died at </a:t>
            </a:r>
            <a:r>
              <a:rPr sz="637" b="1">
                <a:solidFill>
                  <a:srgbClr val="6B7A90"/>
                </a:solidFill>
                <a:latin typeface="Arial"/>
              </a:rPr>
              <a:t>its own fence</a:t>
            </a:r>
            <a:r>
              <a:rPr sz="637" b="0">
                <a:solidFill>
                  <a:srgbClr val="6B7A90"/>
                </a:solidFill>
                <a:latin typeface="Arial"/>
              </a:rPr>
              <a:t>, not at a natural duration — normal calls in those same turns took 2–13s</a:t>
            </a:r>
          </a:p>
        </p:txBody>
      </p:sp>
      <p:cxnSp>
        <p:nvCxnSpPr>
          <p:cNvPr id="33" name="Connector 32"/>
          <p:cNvCxnSpPr/>
          <p:nvPr/>
        </p:nvCxnSpPr>
        <p:spPr>
          <a:xfrm>
            <a:off x="6096000" y="952500"/>
            <a:ext cx="0" cy="2857500"/>
          </a:xfrm>
          <a:prstGeom prst="line">
            <a:avLst/>
          </a:prstGeom>
          <a:ln w="12700">
            <a:solidFill>
              <a:srgbClr val="C7CF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324600" y="800100"/>
            <a:ext cx="3810000" cy="133350"/>
          </a:xfrm>
          <a:prstGeom prst="rect">
            <a:avLst/>
          </a:prstGeom>
          <a:noFill/>
        </p:spPr>
        <p:txBody>
          <a:bodyPr wrap="none" lIns="0" rIns="0" tIns="0" bIns="0" anchor="ctr">
            <a:spAutoFit/>
          </a:bodyPr>
          <a:lstStyle/>
          <a:p>
            <a:pPr algn="l">
              <a:lnSpc>
                <a:spcPct val="100000"/>
              </a:lnSpc>
            </a:pPr>
            <a:r>
              <a:rPr sz="825" b="1">
                <a:solidFill>
                  <a:srgbClr val="0A5C42"/>
                </a:solidFill>
                <a:latin typeface="Arial"/>
              </a:rPr>
              <a:t>S E L F - R E C O V E R Y</a:t>
            </a:r>
          </a:p>
        </p:txBody>
      </p:sp>
      <p:sp>
        <p:nvSpPr>
          <p:cNvPr id="35" name="TextBox 34"/>
          <p:cNvSpPr txBox="1"/>
          <p:nvPr/>
        </p:nvSpPr>
        <p:spPr>
          <a:xfrm>
            <a:off x="6324600" y="971550"/>
            <a:ext cx="4762500" cy="133350"/>
          </a:xfrm>
          <a:prstGeom prst="rect">
            <a:avLst/>
          </a:prstGeom>
          <a:noFill/>
        </p:spPr>
        <p:txBody>
          <a:bodyPr wrap="none" lIns="0" rIns="0" tIns="0" bIns="0" anchor="ctr">
            <a:spAutoFit/>
          </a:bodyPr>
          <a:lstStyle/>
          <a:p>
            <a:pPr algn="l">
              <a:lnSpc>
                <a:spcPct val="100000"/>
              </a:lnSpc>
            </a:pPr>
            <a:r>
              <a:rPr sz="862" b="0">
                <a:solidFill>
                  <a:srgbClr val="4A5568"/>
                </a:solidFill>
                <a:latin typeface="Arial"/>
              </a:rPr>
              <a:t>is what came back usable?   —   the content decides</a:t>
            </a:r>
          </a:p>
        </p:txBody>
      </p:sp>
      <p:sp>
        <p:nvSpPr>
          <p:cNvPr id="36" name="Rectangle 35"/>
          <p:cNvSpPr/>
          <p:nvPr/>
        </p:nvSpPr>
        <p:spPr>
          <a:xfrm>
            <a:off x="6324600" y="1200150"/>
            <a:ext cx="5448300" cy="36195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Rectangle 36"/>
          <p:cNvSpPr/>
          <p:nvPr/>
        </p:nvSpPr>
        <p:spPr>
          <a:xfrm>
            <a:off x="6324600" y="1200150"/>
            <a:ext cx="38100" cy="361950"/>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6438900" y="1247775"/>
            <a:ext cx="1428750" cy="133350"/>
          </a:xfrm>
          <a:prstGeom prst="rect">
            <a:avLst/>
          </a:prstGeom>
          <a:noFill/>
        </p:spPr>
        <p:txBody>
          <a:bodyPr wrap="none" lIns="76200" rIns="0" tIns="0" bIns="0" anchor="t">
            <a:spAutoFit/>
          </a:bodyPr>
          <a:lstStyle/>
          <a:p>
            <a:pPr>
              <a:lnSpc>
                <a:spcPct val="122000"/>
              </a:lnSpc>
            </a:pPr>
            <a:r>
              <a:rPr sz="637" b="0">
                <a:solidFill>
                  <a:srgbClr val="0A5C42"/>
                </a:solidFill>
                <a:latin typeface="Consolas"/>
              </a:rPr>
              <a:t>ungrounded_retry</a:t>
            </a:r>
          </a:p>
        </p:txBody>
      </p:sp>
      <p:sp>
        <p:nvSpPr>
          <p:cNvPr id="39" name="TextBox 38"/>
          <p:cNvSpPr txBox="1"/>
          <p:nvPr/>
        </p:nvSpPr>
        <p:spPr>
          <a:xfrm>
            <a:off x="6438900" y="1390650"/>
            <a:ext cx="1905000" cy="123825"/>
          </a:xfrm>
          <a:prstGeom prst="rect">
            <a:avLst/>
          </a:prstGeom>
          <a:noFill/>
        </p:spPr>
        <p:txBody>
          <a:bodyPr wrap="none" lIns="0" rIns="0" tIns="0" bIns="0" anchor="ctr">
            <a:spAutoFit/>
          </a:bodyPr>
          <a:lstStyle/>
          <a:p>
            <a:pPr algn="l">
              <a:lnSpc>
                <a:spcPct val="100000"/>
              </a:lnSpc>
            </a:pPr>
            <a:r>
              <a:rPr sz="600" b="0">
                <a:solidFill>
                  <a:srgbClr val="6B7A90"/>
                </a:solidFill>
                <a:latin typeface="Arial"/>
              </a:rPr>
              <a:t>a tool call under it failed</a:t>
            </a:r>
          </a:p>
        </p:txBody>
      </p:sp>
      <p:sp>
        <p:nvSpPr>
          <p:cNvPr id="40" name="TextBox 39"/>
          <p:cNvSpPr txBox="1"/>
          <p:nvPr/>
        </p:nvSpPr>
        <p:spPr>
          <a:xfrm>
            <a:off x="8382000" y="1200150"/>
            <a:ext cx="3314700" cy="361950"/>
          </a:xfrm>
          <a:prstGeom prst="rect">
            <a:avLst/>
          </a:prstGeom>
          <a:noFill/>
        </p:spPr>
        <p:txBody>
          <a:bodyPr wrap="square" lIns="0" rIns="0" tIns="0" bIns="0" anchor="ctr">
            <a:spAutoFit/>
          </a:bodyPr>
          <a:lstStyle/>
          <a:p>
            <a:pPr algn="l">
              <a:lnSpc>
                <a:spcPct val="100000"/>
              </a:lnSpc>
            </a:pPr>
            <a:r>
              <a:rPr sz="637" b="0">
                <a:solidFill>
                  <a:srgbClr val="4A5568"/>
                </a:solidFill>
                <a:latin typeface="Arial"/>
              </a:rPr>
              <a:t>the tool errors are fed back into the re-run</a:t>
            </a:r>
          </a:p>
        </p:txBody>
      </p:sp>
      <p:sp>
        <p:nvSpPr>
          <p:cNvPr id="41" name="Rectangle 40"/>
          <p:cNvSpPr/>
          <p:nvPr/>
        </p:nvSpPr>
        <p:spPr>
          <a:xfrm>
            <a:off x="6324600" y="1619250"/>
            <a:ext cx="5448300" cy="36195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Rectangle 41"/>
          <p:cNvSpPr/>
          <p:nvPr/>
        </p:nvSpPr>
        <p:spPr>
          <a:xfrm>
            <a:off x="6324600" y="1619250"/>
            <a:ext cx="38100" cy="361950"/>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6438900" y="1666875"/>
            <a:ext cx="1428750" cy="133350"/>
          </a:xfrm>
          <a:prstGeom prst="rect">
            <a:avLst/>
          </a:prstGeom>
          <a:noFill/>
        </p:spPr>
        <p:txBody>
          <a:bodyPr wrap="none" lIns="76200" rIns="0" tIns="0" bIns="0" anchor="t">
            <a:spAutoFit/>
          </a:bodyPr>
          <a:lstStyle/>
          <a:p>
            <a:pPr>
              <a:lnSpc>
                <a:spcPct val="122000"/>
              </a:lnSpc>
            </a:pPr>
            <a:r>
              <a:rPr sz="637" b="0">
                <a:solidFill>
                  <a:srgbClr val="0A5C42"/>
                </a:solidFill>
                <a:latin typeface="Consolas"/>
              </a:rPr>
              <a:t>absence_reread</a:t>
            </a:r>
          </a:p>
        </p:txBody>
      </p:sp>
      <p:sp>
        <p:nvSpPr>
          <p:cNvPr id="44" name="TextBox 43"/>
          <p:cNvSpPr txBox="1"/>
          <p:nvPr/>
        </p:nvSpPr>
        <p:spPr>
          <a:xfrm>
            <a:off x="6438900" y="1809750"/>
            <a:ext cx="1905000" cy="123825"/>
          </a:xfrm>
          <a:prstGeom prst="rect">
            <a:avLst/>
          </a:prstGeom>
          <a:noFill/>
        </p:spPr>
        <p:txBody>
          <a:bodyPr wrap="none" lIns="0" rIns="0" tIns="0" bIns="0" anchor="ctr">
            <a:spAutoFit/>
          </a:bodyPr>
          <a:lstStyle/>
          <a:p>
            <a:pPr algn="l">
              <a:lnSpc>
                <a:spcPct val="100000"/>
              </a:lnSpc>
            </a:pPr>
            <a:r>
              <a:rPr sz="600" b="0">
                <a:solidFill>
                  <a:srgbClr val="6B7A90"/>
                </a:solidFill>
                <a:latin typeface="Arial"/>
              </a:rPr>
              <a:t>the answer denies rows the tool returned</a:t>
            </a:r>
          </a:p>
        </p:txBody>
      </p:sp>
      <p:sp>
        <p:nvSpPr>
          <p:cNvPr id="45" name="TextBox 44"/>
          <p:cNvSpPr txBox="1"/>
          <p:nvPr/>
        </p:nvSpPr>
        <p:spPr>
          <a:xfrm>
            <a:off x="8382000" y="1619250"/>
            <a:ext cx="3314700" cy="361950"/>
          </a:xfrm>
          <a:prstGeom prst="rect">
            <a:avLst/>
          </a:prstGeom>
          <a:noFill/>
        </p:spPr>
        <p:txBody>
          <a:bodyPr wrap="square" lIns="0" rIns="0" tIns="0" bIns="0" anchor="ctr">
            <a:spAutoFit/>
          </a:bodyPr>
          <a:lstStyle/>
          <a:p>
            <a:pPr algn="l">
              <a:lnSpc>
                <a:spcPct val="100000"/>
              </a:lnSpc>
            </a:pPr>
            <a:r>
              <a:rPr sz="637" b="0">
                <a:solidFill>
                  <a:srgbClr val="4A5568"/>
                </a:solidFill>
                <a:latin typeface="Arial"/>
              </a:rPr>
              <a:t>re-reads the transcript it has — no new query</a:t>
            </a:r>
          </a:p>
        </p:txBody>
      </p:sp>
      <p:sp>
        <p:nvSpPr>
          <p:cNvPr id="46" name="Rectangle 45"/>
          <p:cNvSpPr/>
          <p:nvPr/>
        </p:nvSpPr>
        <p:spPr>
          <a:xfrm>
            <a:off x="6324600" y="2038350"/>
            <a:ext cx="5448300" cy="36195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Rectangle 46"/>
          <p:cNvSpPr/>
          <p:nvPr/>
        </p:nvSpPr>
        <p:spPr>
          <a:xfrm>
            <a:off x="6324600" y="2038350"/>
            <a:ext cx="38100" cy="361950"/>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TextBox 47"/>
          <p:cNvSpPr txBox="1"/>
          <p:nvPr/>
        </p:nvSpPr>
        <p:spPr>
          <a:xfrm>
            <a:off x="6438900" y="2085975"/>
            <a:ext cx="1428750" cy="133350"/>
          </a:xfrm>
          <a:prstGeom prst="rect">
            <a:avLst/>
          </a:prstGeom>
          <a:noFill/>
        </p:spPr>
        <p:txBody>
          <a:bodyPr wrap="none" lIns="76200" rIns="0" tIns="0" bIns="0" anchor="t">
            <a:spAutoFit/>
          </a:bodyPr>
          <a:lstStyle/>
          <a:p>
            <a:pPr>
              <a:lnSpc>
                <a:spcPct val="122000"/>
              </a:lnSpc>
            </a:pPr>
            <a:r>
              <a:rPr sz="637" b="0">
                <a:solidFill>
                  <a:srgbClr val="0A5C42"/>
                </a:solidFill>
                <a:latin typeface="Consolas"/>
              </a:rPr>
              <a:t>max_turns_retry</a:t>
            </a:r>
          </a:p>
        </p:txBody>
      </p:sp>
      <p:sp>
        <p:nvSpPr>
          <p:cNvPr id="49" name="TextBox 48"/>
          <p:cNvSpPr txBox="1"/>
          <p:nvPr/>
        </p:nvSpPr>
        <p:spPr>
          <a:xfrm>
            <a:off x="6438900" y="2228850"/>
            <a:ext cx="1905000" cy="123825"/>
          </a:xfrm>
          <a:prstGeom prst="rect">
            <a:avLst/>
          </a:prstGeom>
          <a:noFill/>
        </p:spPr>
        <p:txBody>
          <a:bodyPr wrap="none" lIns="0" rIns="0" tIns="0" bIns="0" anchor="ctr">
            <a:spAutoFit/>
          </a:bodyPr>
          <a:lstStyle/>
          <a:p>
            <a:pPr algn="l">
              <a:lnSpc>
                <a:spcPct val="100000"/>
              </a:lnSpc>
            </a:pPr>
            <a:r>
              <a:rPr sz="600" b="0">
                <a:solidFill>
                  <a:srgbClr val="6B7A90"/>
                </a:solidFill>
                <a:latin typeface="Arial"/>
              </a:rPr>
              <a:t>blew its turn budget</a:t>
            </a:r>
          </a:p>
        </p:txBody>
      </p:sp>
      <p:sp>
        <p:nvSpPr>
          <p:cNvPr id="50" name="TextBox 49"/>
          <p:cNvSpPr txBox="1"/>
          <p:nvPr/>
        </p:nvSpPr>
        <p:spPr>
          <a:xfrm>
            <a:off x="8382000" y="2038350"/>
            <a:ext cx="3314700" cy="361950"/>
          </a:xfrm>
          <a:prstGeom prst="rect">
            <a:avLst/>
          </a:prstGeom>
          <a:noFill/>
        </p:spPr>
        <p:txBody>
          <a:bodyPr wrap="square" lIns="0" rIns="0" tIns="0" bIns="0" anchor="ctr">
            <a:spAutoFit/>
          </a:bodyPr>
          <a:lstStyle/>
          <a:p>
            <a:pPr algn="l">
              <a:lnSpc>
                <a:spcPct val="100000"/>
              </a:lnSpc>
            </a:pPr>
            <a:r>
              <a:rPr sz="637" b="0">
                <a:solidFill>
                  <a:srgbClr val="4A5568"/>
                </a:solidFill>
                <a:latin typeface="Arial"/>
              </a:rPr>
              <a:t>collapses to a single decisive call</a:t>
            </a:r>
          </a:p>
        </p:txBody>
      </p:sp>
      <p:sp>
        <p:nvSpPr>
          <p:cNvPr id="51" name="Rectangle 50"/>
          <p:cNvSpPr/>
          <p:nvPr/>
        </p:nvSpPr>
        <p:spPr>
          <a:xfrm>
            <a:off x="6324600" y="2457450"/>
            <a:ext cx="5448300" cy="36195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Rectangle 51"/>
          <p:cNvSpPr/>
          <p:nvPr/>
        </p:nvSpPr>
        <p:spPr>
          <a:xfrm>
            <a:off x="6324600" y="2457450"/>
            <a:ext cx="38100" cy="361950"/>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6438900" y="2505075"/>
            <a:ext cx="1428750" cy="133350"/>
          </a:xfrm>
          <a:prstGeom prst="rect">
            <a:avLst/>
          </a:prstGeom>
          <a:noFill/>
        </p:spPr>
        <p:txBody>
          <a:bodyPr wrap="none" lIns="76200" rIns="0" tIns="0" bIns="0" anchor="t">
            <a:spAutoFit/>
          </a:bodyPr>
          <a:lstStyle/>
          <a:p>
            <a:pPr>
              <a:lnSpc>
                <a:spcPct val="122000"/>
              </a:lnSpc>
            </a:pPr>
            <a:r>
              <a:rPr sz="637" b="0">
                <a:solidFill>
                  <a:srgbClr val="0A5C42"/>
                </a:solidFill>
                <a:latin typeface="Consolas"/>
              </a:rPr>
              <a:t>guidance loop</a:t>
            </a:r>
          </a:p>
        </p:txBody>
      </p:sp>
      <p:sp>
        <p:nvSpPr>
          <p:cNvPr id="54" name="TextBox 53"/>
          <p:cNvSpPr txBox="1"/>
          <p:nvPr/>
        </p:nvSpPr>
        <p:spPr>
          <a:xfrm>
            <a:off x="6438900" y="2647950"/>
            <a:ext cx="1905000" cy="123825"/>
          </a:xfrm>
          <a:prstGeom prst="rect">
            <a:avLst/>
          </a:prstGeom>
          <a:noFill/>
        </p:spPr>
        <p:txBody>
          <a:bodyPr wrap="none" lIns="0" rIns="0" tIns="0" bIns="0" anchor="ctr">
            <a:spAutoFit/>
          </a:bodyPr>
          <a:lstStyle/>
          <a:p>
            <a:pPr algn="l">
              <a:lnSpc>
                <a:spcPct val="100000"/>
              </a:lnSpc>
            </a:pPr>
            <a:r>
              <a:rPr sz="600" b="0">
                <a:solidFill>
                  <a:srgbClr val="6B7A90"/>
                </a:solidFill>
                <a:latin typeface="Arial"/>
              </a:rPr>
              <a:t>403 / 400 firewall rejection</a:t>
            </a:r>
          </a:p>
        </p:txBody>
      </p:sp>
      <p:sp>
        <p:nvSpPr>
          <p:cNvPr id="55" name="TextBox 54"/>
          <p:cNvSpPr txBox="1"/>
          <p:nvPr/>
        </p:nvSpPr>
        <p:spPr>
          <a:xfrm>
            <a:off x="8382000" y="2457450"/>
            <a:ext cx="3314700" cy="361950"/>
          </a:xfrm>
          <a:prstGeom prst="rect">
            <a:avLst/>
          </a:prstGeom>
          <a:noFill/>
        </p:spPr>
        <p:txBody>
          <a:bodyPr wrap="square" lIns="0" rIns="0" tIns="0" bIns="0" anchor="ctr">
            <a:spAutoFit/>
          </a:bodyPr>
          <a:lstStyle/>
          <a:p>
            <a:pPr algn="l">
              <a:lnSpc>
                <a:spcPct val="100000"/>
              </a:lnSpc>
            </a:pPr>
            <a:r>
              <a:rPr sz="637" b="0">
                <a:solidFill>
                  <a:srgbClr val="4A5568"/>
                </a:solidFill>
                <a:latin typeface="Arial"/>
              </a:rPr>
              <a:t>appends what to remove, then retries</a:t>
            </a:r>
          </a:p>
        </p:txBody>
      </p:sp>
      <p:sp>
        <p:nvSpPr>
          <p:cNvPr id="56" name="Rectangle 55"/>
          <p:cNvSpPr/>
          <p:nvPr/>
        </p:nvSpPr>
        <p:spPr>
          <a:xfrm>
            <a:off x="6324600" y="2990850"/>
            <a:ext cx="5448300" cy="81915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Rectangle 56"/>
          <p:cNvSpPr/>
          <p:nvPr/>
        </p:nvSpPr>
        <p:spPr>
          <a:xfrm>
            <a:off x="6324600" y="2990850"/>
            <a:ext cx="38100" cy="819150"/>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8" name="TextBox 57"/>
          <p:cNvSpPr txBox="1"/>
          <p:nvPr/>
        </p:nvSpPr>
        <p:spPr>
          <a:xfrm>
            <a:off x="6477000" y="3067050"/>
            <a:ext cx="5143500" cy="133350"/>
          </a:xfrm>
          <a:prstGeom prst="rect">
            <a:avLst/>
          </a:prstGeom>
          <a:noFill/>
        </p:spPr>
        <p:txBody>
          <a:bodyPr wrap="none" lIns="0" rIns="0" tIns="0" bIns="0" anchor="ctr">
            <a:spAutoFit/>
          </a:bodyPr>
          <a:lstStyle/>
          <a:p>
            <a:pPr algn="l">
              <a:lnSpc>
                <a:spcPct val="100000"/>
              </a:lnSpc>
            </a:pPr>
            <a:r>
              <a:rPr sz="787" b="1">
                <a:solidFill>
                  <a:srgbClr val="00175A"/>
                </a:solidFill>
                <a:latin typeface="Arial"/>
              </a:rPr>
              <a:t>the rule that separates them</a:t>
            </a:r>
          </a:p>
        </p:txBody>
      </p:sp>
      <p:sp>
        <p:nvSpPr>
          <p:cNvPr id="59" name="TextBox 58"/>
          <p:cNvSpPr txBox="1"/>
          <p:nvPr/>
        </p:nvSpPr>
        <p:spPr>
          <a:xfrm>
            <a:off x="6477000" y="3257550"/>
            <a:ext cx="5162550" cy="495300"/>
          </a:xfrm>
          <a:prstGeom prst="rect">
            <a:avLst/>
          </a:prstGeom>
          <a:noFill/>
        </p:spPr>
        <p:txBody>
          <a:bodyPr wrap="square" lIns="0" rIns="0" tIns="0" bIns="0" anchor="t">
            <a:spAutoFit/>
          </a:bodyPr>
          <a:lstStyle/>
          <a:p>
            <a:pPr algn="l">
              <a:lnSpc>
                <a:spcPct val="125000"/>
              </a:lnSpc>
            </a:pPr>
            <a:r>
              <a:rPr sz="712" b="1">
                <a:solidFill>
                  <a:srgbClr val="4A5568"/>
                </a:solidFill>
                <a:latin typeface="Arial"/>
              </a:rPr>
              <a:t>401 is transient</a:t>
            </a:r>
            <a:r>
              <a:rPr sz="712" b="0">
                <a:solidFill>
                  <a:srgbClr val="4A5568"/>
                </a:solidFill>
                <a:latin typeface="Arial"/>
              </a:rPr>
              <a:t> — a stale token, so it refreshes and retries </a:t>
            </a:r>
            <a:r>
              <a:rPr sz="712" b="1">
                <a:solidFill>
                  <a:srgbClr val="4A5568"/>
                </a:solidFill>
                <a:latin typeface="Arial"/>
              </a:rPr>
              <a:t>in place</a:t>
            </a:r>
            <a:r>
              <a:rPr sz="712" b="0">
                <a:solidFill>
                  <a:srgbClr val="4A5568"/>
                </a:solidFill>
                <a:latin typeface="Arial"/>
              </a:rPr>
              <a:t>. </a:t>
            </a:r>
            <a:r>
              <a:rPr sz="712" b="1">
                <a:solidFill>
                  <a:srgbClr val="4A5568"/>
                </a:solidFill>
                <a:latin typeface="Arial"/>
              </a:rPr>
              <a:t>403 / 400 are deterministic</a:t>
            </a:r>
            <a:r>
              <a:rPr sz="712" b="0">
                <a:solidFill>
                  <a:srgbClr val="4A5568"/>
                </a:solidFill>
                <a:latin typeface="Arial"/>
              </a:rPr>
              <a:t> — an identical retry is guaranteed to fail the same way, so the input itself must change.</a:t>
            </a:r>
          </a:p>
        </p:txBody>
      </p:sp>
      <p:cxnSp>
        <p:nvCxnSpPr>
          <p:cNvPr id="60" name="Connector 59"/>
          <p:cNvCxnSpPr/>
          <p:nvPr/>
        </p:nvCxnSpPr>
        <p:spPr>
          <a:xfrm>
            <a:off x="419100" y="403860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419100" y="4248150"/>
            <a:ext cx="3505200" cy="16383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2" name="Rectangle 61"/>
          <p:cNvSpPr/>
          <p:nvPr/>
        </p:nvSpPr>
        <p:spPr>
          <a:xfrm>
            <a:off x="419100" y="4248150"/>
            <a:ext cx="38100" cy="16383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3" name="TextBox 62"/>
          <p:cNvSpPr txBox="1"/>
          <p:nvPr/>
        </p:nvSpPr>
        <p:spPr>
          <a:xfrm>
            <a:off x="590550" y="4400550"/>
            <a:ext cx="3143250" cy="190500"/>
          </a:xfrm>
          <a:prstGeom prst="rect">
            <a:avLst/>
          </a:prstGeom>
          <a:noFill/>
        </p:spPr>
        <p:txBody>
          <a:bodyPr wrap="square" lIns="0" rIns="0" tIns="0" bIns="0" anchor="t">
            <a:spAutoFit/>
          </a:bodyPr>
          <a:lstStyle/>
          <a:p>
            <a:pPr algn="l">
              <a:lnSpc>
                <a:spcPct val="100000"/>
              </a:lnSpc>
            </a:pPr>
            <a:r>
              <a:rPr sz="1050" b="1">
                <a:solidFill>
                  <a:srgbClr val="00175A"/>
                </a:solidFill>
                <a:latin typeface="Arial"/>
              </a:rPr>
              <a:t>The multiplication trap</a:t>
            </a:r>
          </a:p>
        </p:txBody>
      </p:sp>
      <p:sp>
        <p:nvSpPr>
          <p:cNvPr id="64" name="TextBox 63"/>
          <p:cNvSpPr txBox="1"/>
          <p:nvPr/>
        </p:nvSpPr>
        <p:spPr>
          <a:xfrm>
            <a:off x="590550" y="4667250"/>
            <a:ext cx="3162300" cy="1123950"/>
          </a:xfrm>
          <a:prstGeom prst="rect">
            <a:avLst/>
          </a:prstGeom>
          <a:noFill/>
        </p:spPr>
        <p:txBody>
          <a:bodyPr wrap="square" lIns="0" rIns="0" tIns="0" bIns="0" anchor="t">
            <a:spAutoFit/>
          </a:bodyPr>
          <a:lstStyle/>
          <a:p>
            <a:pPr algn="l">
              <a:lnSpc>
                <a:spcPct val="128000"/>
              </a:lnSpc>
            </a:pPr>
            <a:r>
              <a:rPr sz="825" b="0">
                <a:solidFill>
                  <a:srgbClr val="4A5568"/>
                </a:solidFill>
                <a:latin typeface="Arial"/>
              </a:rPr>
              <a:t>Agent-level and call-level retries </a:t>
            </a:r>
            <a:r>
              <a:rPr sz="825" b="1">
                <a:solidFill>
                  <a:srgbClr val="4A5568"/>
                </a:solidFill>
                <a:latin typeface="Arial"/>
              </a:rPr>
              <a:t>compose</a:t>
            </a:r>
            <a:r>
              <a:rPr sz="825" b="0">
                <a:solidFill>
                  <a:srgbClr val="4A5568"/>
                </a:solidFill>
                <a:latin typeface="Arial"/>
              </a:rPr>
              <a:t>. A specialist that retries once, each of whose calls stalls once, issues </a:t>
            </a:r>
            <a:r>
              <a:rPr sz="825" b="1">
                <a:solidFill>
                  <a:srgbClr val="4A5568"/>
                </a:solidFill>
                <a:latin typeface="Arial"/>
              </a:rPr>
              <a:t>up to 4 requests</a:t>
            </a:r>
            <a:r>
              <a:rPr sz="825" b="0">
                <a:solidFill>
                  <a:srgbClr val="4A5568"/>
                </a:solidFill>
                <a:latin typeface="Arial"/>
              </a:rPr>
              <a:t> — and one phase fence holds all of them. That is why the call budget is exactly one extra attempt.</a:t>
            </a:r>
          </a:p>
        </p:txBody>
      </p:sp>
      <p:sp>
        <p:nvSpPr>
          <p:cNvPr id="65" name="Rectangle 64"/>
          <p:cNvSpPr/>
          <p:nvPr/>
        </p:nvSpPr>
        <p:spPr>
          <a:xfrm>
            <a:off x="4343400" y="4248150"/>
            <a:ext cx="3505200" cy="16383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6" name="Rectangle 65"/>
          <p:cNvSpPr/>
          <p:nvPr/>
        </p:nvSpPr>
        <p:spPr>
          <a:xfrm>
            <a:off x="4343400" y="4248150"/>
            <a:ext cx="38100" cy="16383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7" name="TextBox 66"/>
          <p:cNvSpPr txBox="1"/>
          <p:nvPr/>
        </p:nvSpPr>
        <p:spPr>
          <a:xfrm>
            <a:off x="4514850" y="4400550"/>
            <a:ext cx="3143250" cy="190500"/>
          </a:xfrm>
          <a:prstGeom prst="rect">
            <a:avLst/>
          </a:prstGeom>
          <a:noFill/>
        </p:spPr>
        <p:txBody>
          <a:bodyPr wrap="square" lIns="0" rIns="0" tIns="0" bIns="0" anchor="t">
            <a:spAutoFit/>
          </a:bodyPr>
          <a:lstStyle/>
          <a:p>
            <a:pPr algn="l">
              <a:lnSpc>
                <a:spcPct val="100000"/>
              </a:lnSpc>
            </a:pPr>
            <a:r>
              <a:rPr sz="1050" b="1">
                <a:solidFill>
                  <a:srgbClr val="00175A"/>
                </a:solidFill>
                <a:latin typeface="Arial"/>
              </a:rPr>
              <a:t>A fence can make a retry unreachable</a:t>
            </a:r>
          </a:p>
        </p:txBody>
      </p:sp>
      <p:sp>
        <p:nvSpPr>
          <p:cNvPr id="68" name="TextBox 67"/>
          <p:cNvSpPr txBox="1"/>
          <p:nvPr/>
        </p:nvSpPr>
        <p:spPr>
          <a:xfrm>
            <a:off x="4514850" y="4667250"/>
            <a:ext cx="3162300" cy="1123950"/>
          </a:xfrm>
          <a:prstGeom prst="rect">
            <a:avLst/>
          </a:prstGeom>
          <a:noFill/>
        </p:spPr>
        <p:txBody>
          <a:bodyPr wrap="square" lIns="0" rIns="0" tIns="0" bIns="0" anchor="t">
            <a:spAutoFit/>
          </a:bodyPr>
          <a:lstStyle/>
          <a:p>
            <a:pPr algn="l">
              <a:lnSpc>
                <a:spcPct val="128000"/>
              </a:lnSpc>
            </a:pPr>
            <a:r>
              <a:rPr sz="825" b="1">
                <a:solidFill>
                  <a:srgbClr val="4A5568"/>
                </a:solidFill>
                <a:latin typeface="Arial"/>
              </a:rPr>
              <a:t>screen</a:t>
            </a:r>
            <a:r>
              <a:rPr sz="825" b="0">
                <a:solidFill>
                  <a:srgbClr val="4A5568"/>
                </a:solidFill>
                <a:latin typeface="Arial"/>
              </a:rPr>
              <a:t> at 30s sat </a:t>
            </a:r>
            <a:r>
              <a:rPr sz="825" b="1">
                <a:solidFill>
                  <a:srgbClr val="4A5568"/>
                </a:solidFill>
                <a:latin typeface="Arial"/>
              </a:rPr>
              <a:t>under</a:t>
            </a:r>
            <a:r>
              <a:rPr sz="825" b="0">
                <a:solidFill>
                  <a:srgbClr val="4A5568"/>
                </a:solidFill>
                <a:latin typeface="Arial"/>
              </a:rPr>
              <a:t> the 40s call-layer stall fence, so that retry was dead code for the phase. Fixed by giving screen its own </a:t>
            </a:r>
            <a:r>
              <a:rPr sz="825" b="1">
                <a:solidFill>
                  <a:srgbClr val="4A5568"/>
                </a:solidFill>
                <a:latin typeface="Arial"/>
              </a:rPr>
              <a:t>10s fence</a:t>
            </a:r>
            <a:r>
              <a:rPr sz="825" b="0">
                <a:solidFill>
                  <a:srgbClr val="4A5568"/>
                </a:solidFill>
                <a:latin typeface="Arial"/>
              </a:rPr>
              <a:t> — not by loosening the phase.</a:t>
            </a:r>
          </a:p>
        </p:txBody>
      </p:sp>
      <p:sp>
        <p:nvSpPr>
          <p:cNvPr id="69" name="Rectangle 68"/>
          <p:cNvSpPr/>
          <p:nvPr/>
        </p:nvSpPr>
        <p:spPr>
          <a:xfrm>
            <a:off x="8267700" y="4248150"/>
            <a:ext cx="3505200" cy="16383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0" name="Rectangle 69"/>
          <p:cNvSpPr/>
          <p:nvPr/>
        </p:nvSpPr>
        <p:spPr>
          <a:xfrm>
            <a:off x="8267700" y="4248150"/>
            <a:ext cx="38100" cy="16383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1" name="TextBox 70"/>
          <p:cNvSpPr txBox="1"/>
          <p:nvPr/>
        </p:nvSpPr>
        <p:spPr>
          <a:xfrm>
            <a:off x="8439150" y="4400550"/>
            <a:ext cx="3143250" cy="190500"/>
          </a:xfrm>
          <a:prstGeom prst="rect">
            <a:avLst/>
          </a:prstGeom>
          <a:noFill/>
        </p:spPr>
        <p:txBody>
          <a:bodyPr wrap="square" lIns="0" rIns="0" tIns="0" bIns="0" anchor="t">
            <a:spAutoFit/>
          </a:bodyPr>
          <a:lstStyle/>
          <a:p>
            <a:pPr algn="l">
              <a:lnSpc>
                <a:spcPct val="100000"/>
              </a:lnSpc>
            </a:pPr>
            <a:r>
              <a:rPr sz="1050" b="1">
                <a:solidFill>
                  <a:srgbClr val="00175A"/>
                </a:solidFill>
                <a:latin typeface="Arial"/>
              </a:rPr>
              <a:t>An abandoned attempt still costs</a:t>
            </a:r>
          </a:p>
        </p:txBody>
      </p:sp>
      <p:sp>
        <p:nvSpPr>
          <p:cNvPr id="72" name="TextBox 71"/>
          <p:cNvSpPr txBox="1"/>
          <p:nvPr/>
        </p:nvSpPr>
        <p:spPr>
          <a:xfrm>
            <a:off x="8439150" y="4667250"/>
            <a:ext cx="3162300" cy="1123950"/>
          </a:xfrm>
          <a:prstGeom prst="rect">
            <a:avLst/>
          </a:prstGeom>
          <a:noFill/>
        </p:spPr>
        <p:txBody>
          <a:bodyPr wrap="square" lIns="0" rIns="0" tIns="0" bIns="0" anchor="t">
            <a:spAutoFit/>
          </a:bodyPr>
          <a:lstStyle/>
          <a:p>
            <a:pPr algn="l">
              <a:lnSpc>
                <a:spcPct val="128000"/>
              </a:lnSpc>
            </a:pPr>
            <a:r>
              <a:rPr sz="825" b="0">
                <a:solidFill>
                  <a:srgbClr val="4A5568"/>
                </a:solidFill>
                <a:latin typeface="Arial"/>
              </a:rPr>
              <a:t>If inference had started, the tokens are </a:t>
            </a:r>
            <a:r>
              <a:rPr sz="825" b="1">
                <a:solidFill>
                  <a:srgbClr val="4A5568"/>
                </a:solidFill>
                <a:latin typeface="Arial"/>
              </a:rPr>
              <a:t>billed</a:t>
            </a:r>
            <a:r>
              <a:rPr sz="825" b="0">
                <a:solidFill>
                  <a:srgbClr val="4A5568"/>
                </a:solidFill>
                <a:latin typeface="Arial"/>
              </a:rPr>
              <a:t> — cancelling closes your side, it does not un-run the work. node_trace records </a:t>
            </a:r>
            <a:r>
              <a:rPr sz="825" b="1">
                <a:solidFill>
                  <a:srgbClr val="4A5568"/>
                </a:solidFill>
                <a:latin typeface="Arial"/>
              </a:rPr>
              <a:t>zero</a:t>
            </a:r>
            <a:r>
              <a:rPr sz="825" b="0">
                <a:solidFill>
                  <a:srgbClr val="4A5568"/>
                </a:solidFill>
                <a:latin typeface="Arial"/>
              </a:rPr>
              <a:t> for it, so trace totals are a floor, not a total.</a:t>
            </a:r>
          </a:p>
        </p:txBody>
      </p:sp>
      <p:cxnSp>
        <p:nvCxnSpPr>
          <p:cNvPr id="73" name="Connector 72"/>
          <p:cNvCxnSpPr/>
          <p:nvPr/>
        </p:nvCxnSpPr>
        <p:spPr>
          <a:xfrm>
            <a:off x="419100" y="615315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419100" y="6248400"/>
            <a:ext cx="11353800" cy="171450"/>
          </a:xfrm>
          <a:prstGeom prst="rect">
            <a:avLst/>
          </a:prstGeom>
          <a:noFill/>
        </p:spPr>
        <p:txBody>
          <a:bodyPr wrap="none" lIns="0" rIns="0" tIns="0" bIns="0" anchor="ctr">
            <a:spAutoFit/>
          </a:bodyPr>
          <a:lstStyle/>
          <a:p>
            <a:pPr algn="ctr">
              <a:lnSpc>
                <a:spcPct val="100000"/>
              </a:lnSpc>
            </a:pPr>
            <a:r>
              <a:rPr sz="862" b="0">
                <a:solidFill>
                  <a:srgbClr val="6B7A90"/>
                </a:solidFill>
                <a:latin typeface="Arial"/>
              </a:rPr>
              <a:t>Widening a fence only converts a failure into a 130-second wait. </a:t>
            </a:r>
            <a:r>
              <a:rPr sz="862" b="1">
                <a:solidFill>
                  <a:srgbClr val="6B7A90"/>
                </a:solidFill>
                <a:latin typeface="Arial"/>
              </a:rPr>
              <a:t>Escaping the stall is what recovers the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47625"/>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419100" y="209550"/>
            <a:ext cx="10477500" cy="400050"/>
          </a:xfrm>
          <a:prstGeom prst="rect">
            <a:avLst/>
          </a:prstGeom>
          <a:noFill/>
        </p:spPr>
        <p:txBody>
          <a:bodyPr wrap="none" lIns="0" rIns="0" tIns="0" bIns="0" anchor="ctr">
            <a:spAutoFit/>
          </a:bodyPr>
          <a:lstStyle/>
          <a:p>
            <a:pPr algn="l">
              <a:lnSpc>
                <a:spcPct val="100000"/>
              </a:lnSpc>
            </a:pPr>
            <a:r>
              <a:rPr sz="2400" b="1">
                <a:solidFill>
                  <a:srgbClr val="00175A"/>
                </a:solidFill>
                <a:latin typeface="Arial"/>
              </a:rPr>
              <a:t>Self-recovery | the failure carries its own fix</a:t>
            </a:r>
          </a:p>
        </p:txBody>
      </p:sp>
      <p:cxnSp>
        <p:nvCxnSpPr>
          <p:cNvPr id="4" name="Connector 3"/>
          <p:cNvCxnSpPr/>
          <p:nvPr/>
        </p:nvCxnSpPr>
        <p:spPr>
          <a:xfrm>
            <a:off x="419100" y="685800"/>
            <a:ext cx="11353800" cy="0"/>
          </a:xfrm>
          <a:prstGeom prst="line">
            <a:avLst/>
          </a:prstGeom>
          <a:ln w="12700">
            <a:solidFill>
              <a:srgbClr val="C7CFD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9100" y="876300"/>
            <a:ext cx="1828800" cy="304800"/>
          </a:xfrm>
          <a:prstGeom prst="rect">
            <a:avLst/>
          </a:prstGeom>
          <a:solidFill>
            <a:srgbClr val="F4F8FD"/>
          </a:solidFill>
          <a:ln w="9525">
            <a:solidFill>
              <a:srgbClr val="A0353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712" b="1">
                <a:solidFill>
                  <a:srgbClr val="A03530"/>
                </a:solidFill>
                <a:latin typeface="Arial"/>
              </a:rPr>
              <a:t>tool call fails</a:t>
            </a:r>
          </a:p>
        </p:txBody>
      </p:sp>
      <p:cxnSp>
        <p:nvCxnSpPr>
          <p:cNvPr id="6" name="Connector 5"/>
          <p:cNvCxnSpPr/>
          <p:nvPr/>
        </p:nvCxnSpPr>
        <p:spPr>
          <a:xfrm>
            <a:off x="2286000" y="1028700"/>
            <a:ext cx="419100" cy="0"/>
          </a:xfrm>
          <a:prstGeom prst="line">
            <a:avLst/>
          </a:prstGeom>
          <a:ln w="1397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743200" y="876300"/>
            <a:ext cx="1828800" cy="304800"/>
          </a:xfrm>
          <a:prstGeom prst="rect">
            <a:avLst/>
          </a:prstGeom>
          <a:solidFill>
            <a:srgbClr val="F4F8FD"/>
          </a:solidFill>
          <a:ln w="9525">
            <a:solidFill>
              <a:srgbClr val="006F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712" b="1">
                <a:solidFill>
                  <a:srgbClr val="006FCF"/>
                </a:solidFill>
                <a:latin typeface="Arial"/>
              </a:rPr>
              <a:t>classified by marker</a:t>
            </a:r>
          </a:p>
        </p:txBody>
      </p:sp>
      <p:cxnSp>
        <p:nvCxnSpPr>
          <p:cNvPr id="8" name="Connector 7"/>
          <p:cNvCxnSpPr/>
          <p:nvPr/>
        </p:nvCxnSpPr>
        <p:spPr>
          <a:xfrm>
            <a:off x="4610100" y="1028700"/>
            <a:ext cx="419100" cy="0"/>
          </a:xfrm>
          <a:prstGeom prst="line">
            <a:avLst/>
          </a:prstGeom>
          <a:ln w="1397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067300" y="876300"/>
            <a:ext cx="1828800" cy="304800"/>
          </a:xfrm>
          <a:prstGeom prst="rect">
            <a:avLst/>
          </a:prstGeom>
          <a:solidFill>
            <a:srgbClr val="F4F8FD"/>
          </a:solidFill>
          <a:ln w="9525">
            <a:solidFill>
              <a:srgbClr val="006F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712" b="1">
                <a:solidFill>
                  <a:srgbClr val="006FCF"/>
                </a:solidFill>
                <a:latin typeface="Arial"/>
              </a:rPr>
              <a:t>repair line appended</a:t>
            </a:r>
          </a:p>
        </p:txBody>
      </p:sp>
      <p:cxnSp>
        <p:nvCxnSpPr>
          <p:cNvPr id="10" name="Connector 9"/>
          <p:cNvCxnSpPr/>
          <p:nvPr/>
        </p:nvCxnSpPr>
        <p:spPr>
          <a:xfrm>
            <a:off x="6934200" y="1028700"/>
            <a:ext cx="419100" cy="0"/>
          </a:xfrm>
          <a:prstGeom prst="line">
            <a:avLst/>
          </a:prstGeom>
          <a:ln w="1397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1400" y="876300"/>
            <a:ext cx="1828800" cy="304800"/>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712" b="1">
                <a:solidFill>
                  <a:srgbClr val="FFFFFF"/>
                </a:solidFill>
                <a:latin typeface="Arial"/>
              </a:rPr>
              <a:t>ONE retry</a:t>
            </a:r>
          </a:p>
        </p:txBody>
      </p:sp>
      <p:cxnSp>
        <p:nvCxnSpPr>
          <p:cNvPr id="12" name="Connector 11"/>
          <p:cNvCxnSpPr/>
          <p:nvPr/>
        </p:nvCxnSpPr>
        <p:spPr>
          <a:xfrm>
            <a:off x="9258300" y="1028700"/>
            <a:ext cx="419100" cy="0"/>
          </a:xfrm>
          <a:prstGeom prst="line">
            <a:avLst/>
          </a:prstGeom>
          <a:ln w="13970">
            <a:solidFill>
              <a:srgbClr val="6B7A90"/>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715500" y="876300"/>
            <a:ext cx="1828800" cy="304800"/>
          </a:xfrm>
          <a:prstGeom prst="rect">
            <a:avLst/>
          </a:prstGeom>
          <a:solidFill>
            <a:srgbClr val="F4F8FD"/>
          </a:solidFill>
          <a:ln w="9525">
            <a:solidFill>
              <a:srgbClr val="0B8A5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92000"/>
              </a:lnSpc>
            </a:pPr>
            <a:r>
              <a:rPr sz="712" b="1">
                <a:solidFill>
                  <a:srgbClr val="0B8A5F"/>
                </a:solidFill>
                <a:latin typeface="Arial"/>
              </a:rPr>
              <a:t>grounded answer</a:t>
            </a:r>
          </a:p>
        </p:txBody>
      </p:sp>
      <p:sp>
        <p:nvSpPr>
          <p:cNvPr id="14" name="TextBox 13"/>
          <p:cNvSpPr txBox="1"/>
          <p:nvPr/>
        </p:nvSpPr>
        <p:spPr>
          <a:xfrm>
            <a:off x="419100" y="1447800"/>
            <a:ext cx="2019300" cy="133350"/>
          </a:xfrm>
          <a:prstGeom prst="rect">
            <a:avLst/>
          </a:prstGeom>
          <a:noFill/>
        </p:spPr>
        <p:txBody>
          <a:bodyPr wrap="none" lIns="0" rIns="0" tIns="0" bIns="0" anchor="ctr">
            <a:spAutoFit/>
          </a:bodyPr>
          <a:lstStyle/>
          <a:p>
            <a:pPr algn="l">
              <a:lnSpc>
                <a:spcPct val="100000"/>
              </a:lnSpc>
            </a:pPr>
            <a:r>
              <a:rPr sz="675" b="1">
                <a:solidFill>
                  <a:srgbClr val="006FCF"/>
                </a:solidFill>
                <a:latin typeface="Arial"/>
              </a:rPr>
              <a:t>WHAT WENT WRONG</a:t>
            </a:r>
          </a:p>
        </p:txBody>
      </p:sp>
      <p:sp>
        <p:nvSpPr>
          <p:cNvPr id="15" name="TextBox 14"/>
          <p:cNvSpPr txBox="1"/>
          <p:nvPr/>
        </p:nvSpPr>
        <p:spPr>
          <a:xfrm>
            <a:off x="2590800" y="1447800"/>
            <a:ext cx="3143250" cy="133350"/>
          </a:xfrm>
          <a:prstGeom prst="rect">
            <a:avLst/>
          </a:prstGeom>
          <a:noFill/>
        </p:spPr>
        <p:txBody>
          <a:bodyPr wrap="none" lIns="0" rIns="0" tIns="0" bIns="0" anchor="ctr">
            <a:spAutoFit/>
          </a:bodyPr>
          <a:lstStyle/>
          <a:p>
            <a:pPr algn="l">
              <a:lnSpc>
                <a:spcPct val="100000"/>
              </a:lnSpc>
            </a:pPr>
            <a:r>
              <a:rPr sz="675" b="1">
                <a:solidFill>
                  <a:srgbClr val="006FCF"/>
                </a:solidFill>
                <a:latin typeface="Arial"/>
              </a:rPr>
              <a:t>WHAT ACTUALLY HAPPENED</a:t>
            </a:r>
          </a:p>
        </p:txBody>
      </p:sp>
      <p:sp>
        <p:nvSpPr>
          <p:cNvPr id="16" name="TextBox 15"/>
          <p:cNvSpPr txBox="1"/>
          <p:nvPr/>
        </p:nvSpPr>
        <p:spPr>
          <a:xfrm>
            <a:off x="5886450" y="1447800"/>
            <a:ext cx="5886450" cy="133350"/>
          </a:xfrm>
          <a:prstGeom prst="rect">
            <a:avLst/>
          </a:prstGeom>
          <a:noFill/>
        </p:spPr>
        <p:txBody>
          <a:bodyPr wrap="none" lIns="0" rIns="0" tIns="0" bIns="0" anchor="ctr">
            <a:spAutoFit/>
          </a:bodyPr>
          <a:lstStyle/>
          <a:p>
            <a:pPr algn="l">
              <a:lnSpc>
                <a:spcPct val="100000"/>
              </a:lnSpc>
            </a:pPr>
            <a:r>
              <a:rPr sz="675" b="1">
                <a:solidFill>
                  <a:srgbClr val="006FCF"/>
                </a:solidFill>
                <a:latin typeface="Arial"/>
              </a:rPr>
              <a:t>THE REPAIR HANDED BACK — one retry, so it must be actionable</a:t>
            </a:r>
          </a:p>
        </p:txBody>
      </p:sp>
      <p:cxnSp>
        <p:nvCxnSpPr>
          <p:cNvPr id="17" name="Connector 16"/>
          <p:cNvCxnSpPr/>
          <p:nvPr/>
        </p:nvCxnSpPr>
        <p:spPr>
          <a:xfrm>
            <a:off x="419100" y="1638300"/>
            <a:ext cx="1135380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9100" y="1809750"/>
            <a:ext cx="2019300" cy="152400"/>
          </a:xfrm>
          <a:prstGeom prst="rect">
            <a:avLst/>
          </a:prstGeom>
          <a:noFill/>
        </p:spPr>
        <p:txBody>
          <a:bodyPr wrap="none" lIns="76200" rIns="0" tIns="0" bIns="0" anchor="t">
            <a:spAutoFit/>
          </a:bodyPr>
          <a:lstStyle/>
          <a:p>
            <a:pPr>
              <a:lnSpc>
                <a:spcPct val="122000"/>
              </a:lnSpc>
            </a:pPr>
            <a:r>
              <a:rPr sz="675" b="0">
                <a:solidFill>
                  <a:srgbClr val="00175A"/>
                </a:solidFill>
                <a:latin typeface="Consolas"/>
              </a:rPr>
              <a:t>column_not_found</a:t>
            </a:r>
          </a:p>
        </p:txBody>
      </p:sp>
      <p:sp>
        <p:nvSpPr>
          <p:cNvPr id="19" name="TextBox 18"/>
          <p:cNvSpPr txBox="1"/>
          <p:nvPr/>
        </p:nvSpPr>
        <p:spPr>
          <a:xfrm>
            <a:off x="2590800" y="1733550"/>
            <a:ext cx="3143250" cy="514350"/>
          </a:xfrm>
          <a:prstGeom prst="rect">
            <a:avLst/>
          </a:prstGeom>
          <a:noFill/>
        </p:spPr>
        <p:txBody>
          <a:bodyPr wrap="square" lIns="0" rIns="0" tIns="0" bIns="0" anchor="ctr">
            <a:spAutoFit/>
          </a:bodyPr>
          <a:lstStyle/>
          <a:p>
            <a:pPr algn="l">
              <a:lnSpc>
                <a:spcPct val="120000"/>
              </a:lnSpc>
            </a:pPr>
            <a:r>
              <a:rPr sz="750" b="0">
                <a:solidFill>
                  <a:srgbClr val="4A5568"/>
                </a:solidFill>
                <a:latin typeface="Arial"/>
              </a:rPr>
              <a:t>named a column that table does not carry</a:t>
            </a:r>
          </a:p>
        </p:txBody>
      </p:sp>
      <p:sp>
        <p:nvSpPr>
          <p:cNvPr id="20" name="TextBox 19"/>
          <p:cNvSpPr txBox="1"/>
          <p:nvPr/>
        </p:nvSpPr>
        <p:spPr>
          <a:xfrm>
            <a:off x="5886450" y="1733550"/>
            <a:ext cx="5886450" cy="514350"/>
          </a:xfrm>
          <a:prstGeom prst="rect">
            <a:avLst/>
          </a:prstGeom>
          <a:noFill/>
        </p:spPr>
        <p:txBody>
          <a:bodyPr wrap="square" lIns="0" rIns="0" tIns="0" bIns="0" anchor="ctr">
            <a:spAutoFit/>
          </a:bodyPr>
          <a:lstStyle/>
          <a:p>
            <a:pPr algn="l">
              <a:lnSpc>
                <a:spcPct val="120000"/>
              </a:lnSpc>
            </a:pPr>
            <a:r>
              <a:rPr sz="750" b="0">
                <a:solidFill>
                  <a:srgbClr val="4A5568"/>
                </a:solidFill>
                <a:latin typeface="Arial"/>
              </a:rPr>
              <a:t>call </a:t>
            </a:r>
            <a:r>
              <a:rPr sz="750" b="1">
                <a:solidFill>
                  <a:srgbClr val="4A5568"/>
                </a:solidFill>
                <a:latin typeface="Arial"/>
              </a:rPr>
              <a:t>search_columns</a:t>
            </a:r>
            <a:r>
              <a:rPr sz="750" b="0">
                <a:solidFill>
                  <a:srgbClr val="4A5568"/>
                </a:solidFill>
                <a:latin typeface="Arial"/>
              </a:rPr>
              <a:t> or </a:t>
            </a:r>
            <a:r>
              <a:rPr sz="750" b="1">
                <a:solidFill>
                  <a:srgbClr val="4A5568"/>
                </a:solidFill>
                <a:latin typeface="Arial"/>
              </a:rPr>
              <a:t>get_table_schema</a:t>
            </a:r>
            <a:r>
              <a:rPr sz="750" b="0">
                <a:solidFill>
                  <a:srgbClr val="4A5568"/>
                </a:solidFill>
                <a:latin typeface="Arial"/>
              </a:rPr>
              <a:t>, then re-issue with a real column name — and do </a:t>
            </a:r>
            <a:r>
              <a:rPr sz="750" b="1">
                <a:solidFill>
                  <a:srgbClr val="4A5568"/>
                </a:solidFill>
                <a:latin typeface="Arial"/>
              </a:rPr>
              <a:t>NOT</a:t>
            </a:r>
            <a:r>
              <a:rPr sz="750" b="0">
                <a:solidFill>
                  <a:srgbClr val="4A5568"/>
                </a:solidFill>
                <a:latin typeface="Arial"/>
              </a:rPr>
              <a:t> report it as a data gap</a:t>
            </a:r>
          </a:p>
        </p:txBody>
      </p:sp>
      <p:cxnSp>
        <p:nvCxnSpPr>
          <p:cNvPr id="21" name="Connector 20"/>
          <p:cNvCxnSpPr/>
          <p:nvPr/>
        </p:nvCxnSpPr>
        <p:spPr>
          <a:xfrm>
            <a:off x="419100" y="2266950"/>
            <a:ext cx="11353800" cy="0"/>
          </a:xfrm>
          <a:prstGeom prst="line">
            <a:avLst/>
          </a:prstGeom>
          <a:ln w="9525">
            <a:solidFill>
              <a:srgbClr val="EEF1F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19100" y="2362200"/>
            <a:ext cx="2019300" cy="152400"/>
          </a:xfrm>
          <a:prstGeom prst="rect">
            <a:avLst/>
          </a:prstGeom>
          <a:noFill/>
        </p:spPr>
        <p:txBody>
          <a:bodyPr wrap="none" lIns="76200" rIns="0" tIns="0" bIns="0" anchor="t">
            <a:spAutoFit/>
          </a:bodyPr>
          <a:lstStyle/>
          <a:p>
            <a:pPr>
              <a:lnSpc>
                <a:spcPct val="122000"/>
              </a:lnSpc>
            </a:pPr>
            <a:r>
              <a:rPr sz="675" b="0">
                <a:solidFill>
                  <a:srgbClr val="00175A"/>
                </a:solidFill>
                <a:latin typeface="Consolas"/>
              </a:rPr>
              <a:t>no_buckets</a:t>
            </a:r>
          </a:p>
        </p:txBody>
      </p:sp>
      <p:sp>
        <p:nvSpPr>
          <p:cNvPr id="23" name="TextBox 22"/>
          <p:cNvSpPr txBox="1"/>
          <p:nvPr/>
        </p:nvSpPr>
        <p:spPr>
          <a:xfrm>
            <a:off x="2590800" y="2286000"/>
            <a:ext cx="3143250" cy="514350"/>
          </a:xfrm>
          <a:prstGeom prst="rect">
            <a:avLst/>
          </a:prstGeom>
          <a:noFill/>
        </p:spPr>
        <p:txBody>
          <a:bodyPr wrap="square" lIns="0" rIns="0" tIns="0" bIns="0" anchor="ctr">
            <a:spAutoFit/>
          </a:bodyPr>
          <a:lstStyle/>
          <a:p>
            <a:pPr algn="l">
              <a:lnSpc>
                <a:spcPct val="120000"/>
              </a:lnSpc>
            </a:pPr>
            <a:r>
              <a:rPr sz="750" b="0">
                <a:solidFill>
                  <a:srgbClr val="4A5568"/>
                </a:solidFill>
                <a:latin typeface="Arial"/>
              </a:rPr>
              <a:t>the date column's format did not parse — “Jul-25” where ISO was assumed</a:t>
            </a:r>
          </a:p>
        </p:txBody>
      </p:sp>
      <p:sp>
        <p:nvSpPr>
          <p:cNvPr id="24" name="TextBox 23"/>
          <p:cNvSpPr txBox="1"/>
          <p:nvPr/>
        </p:nvSpPr>
        <p:spPr>
          <a:xfrm>
            <a:off x="5886450" y="2286000"/>
            <a:ext cx="5886450" cy="514350"/>
          </a:xfrm>
          <a:prstGeom prst="rect">
            <a:avLst/>
          </a:prstGeom>
          <a:noFill/>
        </p:spPr>
        <p:txBody>
          <a:bodyPr wrap="square" lIns="0" rIns="0" tIns="0" bIns="0" anchor="ctr">
            <a:spAutoFit/>
          </a:bodyPr>
          <a:lstStyle/>
          <a:p>
            <a:pPr algn="l">
              <a:lnSpc>
                <a:spcPct val="120000"/>
              </a:lnSpc>
            </a:pPr>
            <a:r>
              <a:rPr sz="750" b="0">
                <a:solidFill>
                  <a:srgbClr val="4A5568"/>
                </a:solidFill>
                <a:latin typeface="Arial"/>
              </a:rPr>
              <a:t>read the column's </a:t>
            </a:r>
            <a:r>
              <a:rPr sz="750" b="1">
                <a:solidFill>
                  <a:srgbClr val="4A5568"/>
                </a:solidFill>
                <a:latin typeface="Arial"/>
              </a:rPr>
              <a:t>actual format</a:t>
            </a:r>
            <a:r>
              <a:rPr sz="750" b="0">
                <a:solidFill>
                  <a:srgbClr val="4A5568"/>
                </a:solidFill>
                <a:latin typeface="Arial"/>
              </a:rPr>
              <a:t> via get_table_schema and re-issue with the correct date_column</a:t>
            </a:r>
          </a:p>
        </p:txBody>
      </p:sp>
      <p:cxnSp>
        <p:nvCxnSpPr>
          <p:cNvPr id="25" name="Connector 24"/>
          <p:cNvCxnSpPr/>
          <p:nvPr/>
        </p:nvCxnSpPr>
        <p:spPr>
          <a:xfrm>
            <a:off x="419100" y="2819400"/>
            <a:ext cx="11353800" cy="0"/>
          </a:xfrm>
          <a:prstGeom prst="line">
            <a:avLst/>
          </a:prstGeom>
          <a:ln w="9525">
            <a:solidFill>
              <a:srgbClr val="EEF1F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9100" y="2914650"/>
            <a:ext cx="2019300" cy="152400"/>
          </a:xfrm>
          <a:prstGeom prst="rect">
            <a:avLst/>
          </a:prstGeom>
          <a:noFill/>
        </p:spPr>
        <p:txBody>
          <a:bodyPr wrap="none" lIns="76200" rIns="0" tIns="0" bIns="0" anchor="t">
            <a:spAutoFit/>
          </a:bodyPr>
          <a:lstStyle/>
          <a:p>
            <a:pPr>
              <a:lnSpc>
                <a:spcPct val="122000"/>
              </a:lnSpc>
            </a:pPr>
            <a:r>
              <a:rPr sz="675" b="0">
                <a:solidFill>
                  <a:srgbClr val="00175A"/>
                </a:solidFill>
                <a:latin typeface="Consolas"/>
              </a:rPr>
              <a:t>specs_unparseable</a:t>
            </a:r>
          </a:p>
        </p:txBody>
      </p:sp>
      <p:sp>
        <p:nvSpPr>
          <p:cNvPr id="27" name="TextBox 26"/>
          <p:cNvSpPr txBox="1"/>
          <p:nvPr/>
        </p:nvSpPr>
        <p:spPr>
          <a:xfrm>
            <a:off x="2590800" y="2838450"/>
            <a:ext cx="3143250" cy="514350"/>
          </a:xfrm>
          <a:prstGeom prst="rect">
            <a:avLst/>
          </a:prstGeom>
          <a:noFill/>
        </p:spPr>
        <p:txBody>
          <a:bodyPr wrap="square" lIns="0" rIns="0" tIns="0" bIns="0" anchor="ctr">
            <a:spAutoFit/>
          </a:bodyPr>
          <a:lstStyle/>
          <a:p>
            <a:pPr algn="l">
              <a:lnSpc>
                <a:spcPct val="120000"/>
              </a:lnSpc>
            </a:pPr>
            <a:r>
              <a:rPr sz="750" b="0">
                <a:solidFill>
                  <a:srgbClr val="4A5568"/>
                </a:solidFill>
                <a:latin typeface="Arial"/>
              </a:rPr>
              <a:t>malformed specs_json — </a:t>
            </a:r>
            <a:r>
              <a:rPr sz="750" b="1">
                <a:solidFill>
                  <a:srgbClr val="4A5568"/>
                </a:solidFill>
                <a:latin typeface="Arial"/>
              </a:rPr>
              <a:t>the tool never ran at all</a:t>
            </a:r>
          </a:p>
        </p:txBody>
      </p:sp>
      <p:sp>
        <p:nvSpPr>
          <p:cNvPr id="28" name="TextBox 27"/>
          <p:cNvSpPr txBox="1"/>
          <p:nvPr/>
        </p:nvSpPr>
        <p:spPr>
          <a:xfrm>
            <a:off x="5886450" y="2838450"/>
            <a:ext cx="5886450" cy="514350"/>
          </a:xfrm>
          <a:prstGeom prst="rect">
            <a:avLst/>
          </a:prstGeom>
          <a:noFill/>
        </p:spPr>
        <p:txBody>
          <a:bodyPr wrap="square" lIns="0" rIns="0" tIns="0" bIns="0" anchor="ctr">
            <a:spAutoFit/>
          </a:bodyPr>
          <a:lstStyle/>
          <a:p>
            <a:pPr algn="l">
              <a:lnSpc>
                <a:spcPct val="120000"/>
              </a:lnSpc>
            </a:pPr>
            <a:r>
              <a:rPr sz="750" b="0">
                <a:solidFill>
                  <a:srgbClr val="4A5568"/>
                </a:solidFill>
                <a:latin typeface="Arial"/>
              </a:rPr>
              <a:t>re-send as a valid JSON array, or fall back to the single-spec tool </a:t>
            </a:r>
            <a:r>
              <a:rPr sz="750" b="1">
                <a:solidFill>
                  <a:srgbClr val="4A5568"/>
                </a:solidFill>
                <a:latin typeface="Arial"/>
              </a:rPr>
              <a:t>one call at a time</a:t>
            </a:r>
          </a:p>
        </p:txBody>
      </p:sp>
      <p:cxnSp>
        <p:nvCxnSpPr>
          <p:cNvPr id="29" name="Connector 28"/>
          <p:cNvCxnSpPr/>
          <p:nvPr/>
        </p:nvCxnSpPr>
        <p:spPr>
          <a:xfrm>
            <a:off x="419100" y="3371850"/>
            <a:ext cx="11353800" cy="0"/>
          </a:xfrm>
          <a:prstGeom prst="line">
            <a:avLst/>
          </a:prstGeom>
          <a:ln w="9525">
            <a:solidFill>
              <a:srgbClr val="EEF1F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19100" y="3467100"/>
            <a:ext cx="2019300" cy="152400"/>
          </a:xfrm>
          <a:prstGeom prst="rect">
            <a:avLst/>
          </a:prstGeom>
          <a:noFill/>
        </p:spPr>
        <p:txBody>
          <a:bodyPr wrap="none" lIns="76200" rIns="0" tIns="0" bIns="0" anchor="t">
            <a:spAutoFit/>
          </a:bodyPr>
          <a:lstStyle/>
          <a:p>
            <a:pPr>
              <a:lnSpc>
                <a:spcPct val="122000"/>
              </a:lnSpc>
            </a:pPr>
            <a:r>
              <a:rPr sz="675" b="0">
                <a:solidFill>
                  <a:srgbClr val="00175A"/>
                </a:solidFill>
                <a:latin typeface="Consolas"/>
              </a:rPr>
              <a:t>table_not_found</a:t>
            </a:r>
          </a:p>
        </p:txBody>
      </p:sp>
      <p:sp>
        <p:nvSpPr>
          <p:cNvPr id="31" name="TextBox 30"/>
          <p:cNvSpPr txBox="1"/>
          <p:nvPr/>
        </p:nvSpPr>
        <p:spPr>
          <a:xfrm>
            <a:off x="2590800" y="3390900"/>
            <a:ext cx="3143250" cy="514350"/>
          </a:xfrm>
          <a:prstGeom prst="rect">
            <a:avLst/>
          </a:prstGeom>
          <a:noFill/>
        </p:spPr>
        <p:txBody>
          <a:bodyPr wrap="square" lIns="0" rIns="0" tIns="0" bIns="0" anchor="ctr">
            <a:spAutoFit/>
          </a:bodyPr>
          <a:lstStyle/>
          <a:p>
            <a:pPr algn="l">
              <a:lnSpc>
                <a:spcPct val="120000"/>
              </a:lnSpc>
            </a:pPr>
            <a:r>
              <a:rPr sz="750" b="0">
                <a:solidFill>
                  <a:srgbClr val="4A5568"/>
                </a:solidFill>
                <a:latin typeface="Arial"/>
              </a:rPr>
              <a:t>that table does not exist for this case</a:t>
            </a:r>
          </a:p>
        </p:txBody>
      </p:sp>
      <p:sp>
        <p:nvSpPr>
          <p:cNvPr id="32" name="TextBox 31"/>
          <p:cNvSpPr txBox="1"/>
          <p:nvPr/>
        </p:nvSpPr>
        <p:spPr>
          <a:xfrm>
            <a:off x="5886450" y="3390900"/>
            <a:ext cx="5886450" cy="514350"/>
          </a:xfrm>
          <a:prstGeom prst="rect">
            <a:avLst/>
          </a:prstGeom>
          <a:noFill/>
        </p:spPr>
        <p:txBody>
          <a:bodyPr wrap="square" lIns="0" rIns="0" tIns="0" bIns="0" anchor="ctr">
            <a:spAutoFit/>
          </a:bodyPr>
          <a:lstStyle/>
          <a:p>
            <a:pPr algn="l">
              <a:lnSpc>
                <a:spcPct val="120000"/>
              </a:lnSpc>
            </a:pPr>
            <a:r>
              <a:rPr sz="750" b="0">
                <a:solidFill>
                  <a:srgbClr val="4A5568"/>
                </a:solidFill>
                <a:latin typeface="Arial"/>
              </a:rPr>
              <a:t>call </a:t>
            </a:r>
            <a:r>
              <a:rPr sz="750" b="1">
                <a:solidFill>
                  <a:srgbClr val="4A5568"/>
                </a:solidFill>
                <a:latin typeface="Arial"/>
              </a:rPr>
              <a:t>list_available_tables</a:t>
            </a:r>
            <a:r>
              <a:rPr sz="750" b="0">
                <a:solidFill>
                  <a:srgbClr val="4A5568"/>
                </a:solidFill>
                <a:latin typeface="Arial"/>
              </a:rPr>
              <a:t> and pick one that does</a:t>
            </a:r>
          </a:p>
        </p:txBody>
      </p:sp>
      <p:cxnSp>
        <p:nvCxnSpPr>
          <p:cNvPr id="33" name="Connector 32"/>
          <p:cNvCxnSpPr/>
          <p:nvPr/>
        </p:nvCxnSpPr>
        <p:spPr>
          <a:xfrm>
            <a:off x="419100" y="3924300"/>
            <a:ext cx="11353800" cy="0"/>
          </a:xfrm>
          <a:prstGeom prst="line">
            <a:avLst/>
          </a:prstGeom>
          <a:ln w="9525">
            <a:solidFill>
              <a:srgbClr val="EEF1F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419100" y="3943350"/>
            <a:ext cx="11353800" cy="59055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Rectangle 34"/>
          <p:cNvSpPr/>
          <p:nvPr/>
        </p:nvSpPr>
        <p:spPr>
          <a:xfrm>
            <a:off x="419100" y="3943350"/>
            <a:ext cx="38100" cy="590550"/>
          </a:xfrm>
          <a:prstGeom prst="rect">
            <a:avLst/>
          </a:prstGeom>
          <a:solidFill>
            <a:srgbClr val="A03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552450" y="4019550"/>
            <a:ext cx="2019300" cy="152400"/>
          </a:xfrm>
          <a:prstGeom prst="rect">
            <a:avLst/>
          </a:prstGeom>
          <a:noFill/>
        </p:spPr>
        <p:txBody>
          <a:bodyPr wrap="none" lIns="76200" rIns="0" tIns="0" bIns="0" anchor="t">
            <a:spAutoFit/>
          </a:bodyPr>
          <a:lstStyle/>
          <a:p>
            <a:pPr>
              <a:lnSpc>
                <a:spcPct val="122000"/>
              </a:lnSpc>
            </a:pPr>
            <a:r>
              <a:rPr sz="675" b="0">
                <a:solidFill>
                  <a:srgbClr val="A03530"/>
                </a:solidFill>
                <a:latin typeface="Consolas"/>
              </a:rPr>
              <a:t>(nothing failed)</a:t>
            </a:r>
          </a:p>
        </p:txBody>
      </p:sp>
      <p:sp>
        <p:nvSpPr>
          <p:cNvPr id="37" name="TextBox 36"/>
          <p:cNvSpPr txBox="1"/>
          <p:nvPr/>
        </p:nvSpPr>
        <p:spPr>
          <a:xfrm>
            <a:off x="2590800" y="3943350"/>
            <a:ext cx="3143250" cy="590550"/>
          </a:xfrm>
          <a:prstGeom prst="rect">
            <a:avLst/>
          </a:prstGeom>
          <a:noFill/>
        </p:spPr>
        <p:txBody>
          <a:bodyPr wrap="square" lIns="0" rIns="0" tIns="0" bIns="0" anchor="ctr">
            <a:spAutoFit/>
          </a:bodyPr>
          <a:lstStyle/>
          <a:p>
            <a:pPr algn="l">
              <a:lnSpc>
                <a:spcPct val="120000"/>
              </a:lnSpc>
            </a:pPr>
            <a:r>
              <a:rPr sz="750" b="0">
                <a:solidFill>
                  <a:srgbClr val="4A5568"/>
                </a:solidFill>
                <a:latin typeface="Arial"/>
              </a:rPr>
              <a:t>the filter matched </a:t>
            </a:r>
            <a:r>
              <a:rPr sz="750" b="1">
                <a:solidFill>
                  <a:srgbClr val="4A5568"/>
                </a:solidFill>
                <a:latin typeface="Arial"/>
              </a:rPr>
              <a:t>0 rows</a:t>
            </a:r>
            <a:r>
              <a:rPr sz="750" b="0">
                <a:solidFill>
                  <a:srgbClr val="4A5568"/>
                </a:solidFill>
                <a:latin typeface="Arial"/>
              </a:rPr>
              <a:t> — and an empty result looks exactly like a true negative</a:t>
            </a:r>
          </a:p>
        </p:txBody>
      </p:sp>
      <p:sp>
        <p:nvSpPr>
          <p:cNvPr id="38" name="TextBox 37"/>
          <p:cNvSpPr txBox="1"/>
          <p:nvPr/>
        </p:nvSpPr>
        <p:spPr>
          <a:xfrm>
            <a:off x="5886450" y="3943350"/>
            <a:ext cx="5886450" cy="590550"/>
          </a:xfrm>
          <a:prstGeom prst="rect">
            <a:avLst/>
          </a:prstGeom>
          <a:noFill/>
        </p:spPr>
        <p:txBody>
          <a:bodyPr wrap="square" lIns="0" rIns="0" tIns="0" bIns="0" anchor="ctr">
            <a:spAutoFit/>
          </a:bodyPr>
          <a:lstStyle/>
          <a:p>
            <a:pPr algn="l">
              <a:lnSpc>
                <a:spcPct val="120000"/>
              </a:lnSpc>
            </a:pPr>
            <a:r>
              <a:rPr sz="750" b="1">
                <a:solidFill>
                  <a:srgbClr val="00175A"/>
                </a:solidFill>
                <a:latin typeface="Arial"/>
              </a:rPr>
              <a:t>_why_empty</a:t>
            </a:r>
            <a:r>
              <a:rPr sz="750" b="0">
                <a:solidFill>
                  <a:srgbClr val="00175A"/>
                </a:solidFill>
                <a:latin typeface="Arial"/>
              </a:rPr>
              <a:t> re-runs each condition alone: “</a:t>
            </a:r>
            <a:r>
              <a:rPr sz="750" b="1">
                <a:solidFill>
                  <a:srgbClr val="00175A"/>
                </a:solidFill>
                <a:latin typeface="Arial"/>
              </a:rPr>
              <a:t>NOT A NEGATIVE FINDING</a:t>
            </a:r>
            <a:r>
              <a:rPr sz="750" b="0">
                <a:solidFill>
                  <a:srgbClr val="00175A"/>
                </a:solidFill>
                <a:latin typeface="Arial"/>
              </a:rPr>
              <a:t> — these conditions name columns this table does not have, so they were never tested”</a:t>
            </a:r>
          </a:p>
        </p:txBody>
      </p:sp>
      <p:cxnSp>
        <p:nvCxnSpPr>
          <p:cNvPr id="39" name="Connector 38"/>
          <p:cNvCxnSpPr/>
          <p:nvPr/>
        </p:nvCxnSpPr>
        <p:spPr>
          <a:xfrm>
            <a:off x="419100" y="487680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19100" y="5067300"/>
            <a:ext cx="3505200" cy="11049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Rectangle 40"/>
          <p:cNvSpPr/>
          <p:nvPr/>
        </p:nvSpPr>
        <p:spPr>
          <a:xfrm>
            <a:off x="419100" y="5067300"/>
            <a:ext cx="38100" cy="11049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TextBox 41"/>
          <p:cNvSpPr txBox="1"/>
          <p:nvPr/>
        </p:nvSpPr>
        <p:spPr>
          <a:xfrm>
            <a:off x="590550" y="5200650"/>
            <a:ext cx="3162300" cy="323850"/>
          </a:xfrm>
          <a:prstGeom prst="rect">
            <a:avLst/>
          </a:prstGeom>
          <a:noFill/>
        </p:spPr>
        <p:txBody>
          <a:bodyPr wrap="square" lIns="0" rIns="0" tIns="0" bIns="0" anchor="t">
            <a:spAutoFit/>
          </a:bodyPr>
          <a:lstStyle/>
          <a:p>
            <a:pPr algn="l">
              <a:lnSpc>
                <a:spcPct val="118000"/>
              </a:lnSpc>
            </a:pPr>
            <a:r>
              <a:rPr sz="937" b="1">
                <a:solidFill>
                  <a:srgbClr val="00175A"/>
                </a:solidFill>
                <a:latin typeface="Arial"/>
              </a:rPr>
              <a:t>One retry means the message must carry the next move.</a:t>
            </a:r>
          </a:p>
        </p:txBody>
      </p:sp>
      <p:sp>
        <p:nvSpPr>
          <p:cNvPr id="43" name="TextBox 42"/>
          <p:cNvSpPr txBox="1"/>
          <p:nvPr/>
        </p:nvSpPr>
        <p:spPr>
          <a:xfrm>
            <a:off x="590550" y="5600700"/>
            <a:ext cx="3162300" cy="495300"/>
          </a:xfrm>
          <a:prstGeom prst="rect">
            <a:avLst/>
          </a:prstGeom>
          <a:noFill/>
        </p:spPr>
        <p:txBody>
          <a:bodyPr wrap="square" lIns="0" rIns="0" tIns="0" bIns="0" anchor="t">
            <a:spAutoFit/>
          </a:bodyPr>
          <a:lstStyle/>
          <a:p>
            <a:pPr algn="l">
              <a:lnSpc>
                <a:spcPct val="122000"/>
              </a:lnSpc>
            </a:pPr>
            <a:r>
              <a:rPr sz="787" b="0">
                <a:solidFill>
                  <a:srgbClr val="4A5568"/>
                </a:solidFill>
                <a:latin typeface="Arial"/>
              </a:rPr>
              <a:t>“your call failed” is not enough — every line names the specific tool to call and what to change.</a:t>
            </a:r>
          </a:p>
        </p:txBody>
      </p:sp>
      <p:sp>
        <p:nvSpPr>
          <p:cNvPr id="44" name="Rectangle 43"/>
          <p:cNvSpPr/>
          <p:nvPr/>
        </p:nvSpPr>
        <p:spPr>
          <a:xfrm>
            <a:off x="4343400" y="5067300"/>
            <a:ext cx="3505200" cy="11049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Rectangle 44"/>
          <p:cNvSpPr/>
          <p:nvPr/>
        </p:nvSpPr>
        <p:spPr>
          <a:xfrm>
            <a:off x="4343400" y="5067300"/>
            <a:ext cx="38100" cy="11049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6" name="TextBox 45"/>
          <p:cNvSpPr txBox="1"/>
          <p:nvPr/>
        </p:nvSpPr>
        <p:spPr>
          <a:xfrm>
            <a:off x="4514850" y="5200650"/>
            <a:ext cx="3162300" cy="323850"/>
          </a:xfrm>
          <a:prstGeom prst="rect">
            <a:avLst/>
          </a:prstGeom>
          <a:noFill/>
        </p:spPr>
        <p:txBody>
          <a:bodyPr wrap="square" lIns="0" rIns="0" tIns="0" bIns="0" anchor="t">
            <a:spAutoFit/>
          </a:bodyPr>
          <a:lstStyle/>
          <a:p>
            <a:pPr algn="l">
              <a:lnSpc>
                <a:spcPct val="118000"/>
              </a:lnSpc>
            </a:pPr>
            <a:r>
              <a:rPr sz="937" b="1">
                <a:solidFill>
                  <a:srgbClr val="00175A"/>
                </a:solidFill>
                <a:latin typeface="Arial"/>
              </a:rPr>
              <a:t>The dangerous failure is the one that does not fail.</a:t>
            </a:r>
          </a:p>
        </p:txBody>
      </p:sp>
      <p:sp>
        <p:nvSpPr>
          <p:cNvPr id="47" name="TextBox 46"/>
          <p:cNvSpPr txBox="1"/>
          <p:nvPr/>
        </p:nvSpPr>
        <p:spPr>
          <a:xfrm>
            <a:off x="4514850" y="5600700"/>
            <a:ext cx="3162300" cy="495300"/>
          </a:xfrm>
          <a:prstGeom prst="rect">
            <a:avLst/>
          </a:prstGeom>
          <a:noFill/>
        </p:spPr>
        <p:txBody>
          <a:bodyPr wrap="square" lIns="0" rIns="0" tIns="0" bIns="0" anchor="t">
            <a:spAutoFit/>
          </a:bodyPr>
          <a:lstStyle/>
          <a:p>
            <a:pPr algn="l">
              <a:lnSpc>
                <a:spcPct val="122000"/>
              </a:lnSpc>
            </a:pPr>
            <a:r>
              <a:rPr sz="787" b="0">
                <a:solidFill>
                  <a:srgbClr val="4A5568"/>
                </a:solidFill>
                <a:latin typeface="Arial"/>
              </a:rPr>
              <a:t>0 rows raises nothing. It has to be made to speak, or it is reported as a finding.</a:t>
            </a:r>
          </a:p>
        </p:txBody>
      </p:sp>
      <p:sp>
        <p:nvSpPr>
          <p:cNvPr id="48" name="Rectangle 47"/>
          <p:cNvSpPr/>
          <p:nvPr/>
        </p:nvSpPr>
        <p:spPr>
          <a:xfrm>
            <a:off x="8267700" y="5067300"/>
            <a:ext cx="3505200" cy="11049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Rectangle 48"/>
          <p:cNvSpPr/>
          <p:nvPr/>
        </p:nvSpPr>
        <p:spPr>
          <a:xfrm>
            <a:off x="8267700" y="5067300"/>
            <a:ext cx="38100" cy="11049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TextBox 49"/>
          <p:cNvSpPr txBox="1"/>
          <p:nvPr/>
        </p:nvSpPr>
        <p:spPr>
          <a:xfrm>
            <a:off x="8439150" y="5200650"/>
            <a:ext cx="3162300" cy="323850"/>
          </a:xfrm>
          <a:prstGeom prst="rect">
            <a:avLst/>
          </a:prstGeom>
          <a:noFill/>
        </p:spPr>
        <p:txBody>
          <a:bodyPr wrap="square" lIns="0" rIns="0" tIns="0" bIns="0" anchor="t">
            <a:spAutoFit/>
          </a:bodyPr>
          <a:lstStyle/>
          <a:p>
            <a:pPr algn="l">
              <a:lnSpc>
                <a:spcPct val="118000"/>
              </a:lnSpc>
            </a:pPr>
            <a:r>
              <a:rPr sz="937" b="1">
                <a:solidFill>
                  <a:srgbClr val="00175A"/>
                </a:solidFill>
                <a:latin typeface="Arial"/>
              </a:rPr>
              <a:t>Never let a broken call become a finding.</a:t>
            </a:r>
          </a:p>
        </p:txBody>
      </p:sp>
      <p:sp>
        <p:nvSpPr>
          <p:cNvPr id="51" name="TextBox 50"/>
          <p:cNvSpPr txBox="1"/>
          <p:nvPr/>
        </p:nvSpPr>
        <p:spPr>
          <a:xfrm>
            <a:off x="8439150" y="5600700"/>
            <a:ext cx="3162300" cy="495300"/>
          </a:xfrm>
          <a:prstGeom prst="rect">
            <a:avLst/>
          </a:prstGeom>
          <a:noFill/>
        </p:spPr>
        <p:txBody>
          <a:bodyPr wrap="square" lIns="0" rIns="0" tIns="0" bIns="0" anchor="t">
            <a:spAutoFit/>
          </a:bodyPr>
          <a:lstStyle/>
          <a:p>
            <a:pPr algn="l">
              <a:lnSpc>
                <a:spcPct val="122000"/>
              </a:lnSpc>
            </a:pPr>
            <a:r>
              <a:rPr sz="787" b="0">
                <a:solidFill>
                  <a:srgbClr val="4A5568"/>
                </a:solidFill>
                <a:latin typeface="Arial"/>
              </a:rPr>
              <a:t>each repair line ends by forbidding the false report — “do NOT report it as a data gap”.</a:t>
            </a:r>
          </a:p>
        </p:txBody>
      </p:sp>
      <p:sp>
        <p:nvSpPr>
          <p:cNvPr id="52" name="TextBox 51"/>
          <p:cNvSpPr txBox="1"/>
          <p:nvPr/>
        </p:nvSpPr>
        <p:spPr>
          <a:xfrm>
            <a:off x="419100" y="6324600"/>
            <a:ext cx="11353800" cy="190500"/>
          </a:xfrm>
          <a:prstGeom prst="rect">
            <a:avLst/>
          </a:prstGeom>
          <a:noFill/>
        </p:spPr>
        <p:txBody>
          <a:bodyPr wrap="none" lIns="0" rIns="0" tIns="0" bIns="0" anchor="ctr">
            <a:spAutoFit/>
          </a:bodyPr>
          <a:lstStyle/>
          <a:p>
            <a:pPr algn="ctr">
              <a:lnSpc>
                <a:spcPct val="100000"/>
              </a:lnSpc>
            </a:pPr>
            <a:r>
              <a:rPr sz="900" b="0">
                <a:solidFill>
                  <a:srgbClr val="6B7A90"/>
                </a:solidFill>
                <a:latin typeface="Arial"/>
              </a:rPr>
              <a:t>A failed tool call is not a dead end — it is an instruction.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47625"/>
          </a:xfrm>
          <a:prstGeom prst="rect">
            <a:avLst/>
          </a:prstGeom>
          <a:solidFill>
            <a:srgbClr val="0017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419100" y="209550"/>
            <a:ext cx="10477500" cy="400050"/>
          </a:xfrm>
          <a:prstGeom prst="rect">
            <a:avLst/>
          </a:prstGeom>
          <a:noFill/>
        </p:spPr>
        <p:txBody>
          <a:bodyPr wrap="none" lIns="0" rIns="0" tIns="0" bIns="0" anchor="ctr">
            <a:spAutoFit/>
          </a:bodyPr>
          <a:lstStyle/>
          <a:p>
            <a:pPr algn="l">
              <a:lnSpc>
                <a:spcPct val="100000"/>
              </a:lnSpc>
            </a:pPr>
            <a:r>
              <a:rPr sz="2400" b="1">
                <a:solidFill>
                  <a:srgbClr val="00175A"/>
                </a:solidFill>
                <a:latin typeface="Arial"/>
              </a:rPr>
              <a:t>Grounded rate | scoring “any model opportunities?”</a:t>
            </a:r>
          </a:p>
        </p:txBody>
      </p:sp>
      <p:cxnSp>
        <p:nvCxnSpPr>
          <p:cNvPr id="4" name="Connector 3"/>
          <p:cNvCxnSpPr/>
          <p:nvPr/>
        </p:nvCxnSpPr>
        <p:spPr>
          <a:xfrm>
            <a:off x="419100" y="685800"/>
            <a:ext cx="11353800" cy="0"/>
          </a:xfrm>
          <a:prstGeom prst="line">
            <a:avLst/>
          </a:prstGeom>
          <a:ln w="12700">
            <a:solidFill>
              <a:srgbClr val="C7CFD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9100" y="781050"/>
            <a:ext cx="4762500" cy="123825"/>
          </a:xfrm>
          <a:prstGeom prst="rect">
            <a:avLst/>
          </a:prstGeom>
          <a:noFill/>
        </p:spPr>
        <p:txBody>
          <a:bodyPr wrap="none" lIns="0" rIns="0" tIns="0" bIns="0" anchor="ctr">
            <a:spAutoFit/>
          </a:bodyPr>
          <a:lstStyle/>
          <a:p>
            <a:pPr algn="l">
              <a:lnSpc>
                <a:spcPct val="100000"/>
              </a:lnSpc>
            </a:pPr>
            <a:r>
              <a:rPr sz="712" b="1">
                <a:solidFill>
                  <a:srgbClr val="006FCF"/>
                </a:solidFill>
                <a:latin typeface="Arial"/>
              </a:rPr>
              <a:t>T H E   R A W   A N S W E R</a:t>
            </a:r>
          </a:p>
        </p:txBody>
      </p:sp>
      <p:sp>
        <p:nvSpPr>
          <p:cNvPr id="6" name="Rectangle 5"/>
          <p:cNvSpPr/>
          <p:nvPr/>
        </p:nvSpPr>
        <p:spPr>
          <a:xfrm>
            <a:off x="419100" y="952500"/>
            <a:ext cx="11353800" cy="990600"/>
          </a:xfrm>
          <a:prstGeom prst="rect">
            <a:avLst/>
          </a:prstGeom>
          <a:solidFill>
            <a:srgbClr val="F4F8FD"/>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590550" y="1028700"/>
            <a:ext cx="11049000" cy="857250"/>
          </a:xfrm>
          <a:prstGeom prst="rect">
            <a:avLst/>
          </a:prstGeom>
          <a:noFill/>
        </p:spPr>
        <p:txBody>
          <a:bodyPr wrap="square" lIns="0" rIns="0" tIns="0" bIns="0" anchor="t">
            <a:spAutoFit/>
          </a:bodyPr>
          <a:lstStyle/>
          <a:p>
            <a:pPr algn="l">
              <a:lnSpc>
                <a:spcPct val="128000"/>
              </a:lnSpc>
            </a:pPr>
            <a:r>
              <a:rPr sz="750" b="0">
                <a:solidFill>
                  <a:srgbClr val="4A5568"/>
                </a:solidFill>
                <a:latin typeface="Arial"/>
              </a:rPr>
              <a:t>“No prior curated reports — answer is from live specialist analysis only.  Internal risk scores (CDSS, TSR) reacted late: spend-concentration breach (&gt;2.4, peak 8.73) occurred Dec'2025–Jan'2026, but model scores escalated only from Feb'2026, </a:t>
            </a:r>
            <a:r>
              <a:rPr sz="750" b="1">
                <a:solidFill>
                  <a:srgbClr val="4A5568"/>
                </a:solidFill>
                <a:latin typeface="Arial"/>
              </a:rPr>
              <a:t>missing actionable windows</a:t>
            </a:r>
            <a:r>
              <a:rPr sz="750" b="0">
                <a:solidFill>
                  <a:srgbClr val="4A5568"/>
                </a:solidFill>
                <a:latin typeface="Arial"/>
              </a:rPr>
              <a:t>.  All spend (</a:t>
            </a:r>
            <a:r>
              <a:rPr sz="750" b="1">
                <a:solidFill>
                  <a:srgbClr val="4A5568"/>
                </a:solidFill>
                <a:latin typeface="Arial"/>
              </a:rPr>
              <a:t>$44,912.26</a:t>
            </a:r>
            <a:r>
              <a:rPr sz="750" b="0">
                <a:solidFill>
                  <a:srgbClr val="4A5568"/>
                </a:solidFill>
                <a:latin typeface="Arial"/>
              </a:rPr>
              <a:t>) went to OMEGA 3 MOTOR SPORTS in Jan'2026.  Model risk-driving features </a:t>
            </a:r>
            <a:r>
              <a:rPr sz="750" b="1">
                <a:solidFill>
                  <a:srgbClr val="4A5568"/>
                </a:solidFill>
                <a:latin typeface="Arial"/>
              </a:rPr>
              <a:t>were redundant</a:t>
            </a:r>
            <a:r>
              <a:rPr sz="750" b="0">
                <a:solidFill>
                  <a:srgbClr val="4A5568"/>
                </a:solidFill>
                <a:latin typeface="Arial"/>
              </a:rPr>
              <a:t>, dominated by 'ioip_interaction' across 10+ months.  Card exposure is totally driven by BUSINESS GOLD REWARDS (100% of balance, 93% of limit); BLUE BUSINESS PLUS has $700 unused headroom at zero balance, </a:t>
            </a:r>
            <a:r>
              <a:rPr sz="750" b="1">
                <a:solidFill>
                  <a:srgbClr val="4A5568"/>
                </a:solidFill>
                <a:latin typeface="Arial"/>
              </a:rPr>
              <a:t>representing unrealized mitigation avenues</a:t>
            </a:r>
            <a:r>
              <a:rPr sz="750" b="0">
                <a:solidFill>
                  <a:srgbClr val="4A5568"/>
                </a:solidFill>
                <a:latin typeface="Arial"/>
              </a:rPr>
              <a:t>.  Bureau FICO dropped sharply (787 → 606 in May'2026, </a:t>
            </a:r>
            <a:r>
              <a:rPr sz="750" b="1">
                <a:solidFill>
                  <a:srgbClr val="4A5568"/>
                </a:solidFill>
                <a:latin typeface="Arial"/>
              </a:rPr>
              <a:t>a 20.9% decline</a:t>
            </a:r>
            <a:r>
              <a:rPr sz="750" b="0">
                <a:solidFill>
                  <a:srgbClr val="4A5568"/>
                </a:solidFill>
                <a:latin typeface="Arial"/>
              </a:rPr>
              <a:t>) without integration as a model driver, </a:t>
            </a:r>
            <a:r>
              <a:rPr sz="750" b="1">
                <a:solidFill>
                  <a:srgbClr val="4A5568"/>
                </a:solidFill>
                <a:latin typeface="Arial"/>
              </a:rPr>
              <a:t>indicating missed triggers for early warning</a:t>
            </a:r>
            <a:r>
              <a:rPr sz="750" b="0">
                <a:solidFill>
                  <a:srgbClr val="4A5568"/>
                </a:solidFill>
                <a:latin typeface="Arial"/>
              </a:rPr>
              <a:t>.”</a:t>
            </a:r>
          </a:p>
        </p:txBody>
      </p:sp>
      <p:sp>
        <p:nvSpPr>
          <p:cNvPr id="8" name="TextBox 7"/>
          <p:cNvSpPr txBox="1"/>
          <p:nvPr/>
        </p:nvSpPr>
        <p:spPr>
          <a:xfrm>
            <a:off x="419100" y="2038350"/>
            <a:ext cx="4476750" cy="123825"/>
          </a:xfrm>
          <a:prstGeom prst="rect">
            <a:avLst/>
          </a:prstGeom>
          <a:noFill/>
        </p:spPr>
        <p:txBody>
          <a:bodyPr wrap="none" lIns="0" rIns="0" tIns="0" bIns="0" anchor="ctr">
            <a:spAutoFit/>
          </a:bodyPr>
          <a:lstStyle/>
          <a:p>
            <a:pPr algn="l">
              <a:lnSpc>
                <a:spcPct val="100000"/>
              </a:lnSpc>
            </a:pPr>
            <a:r>
              <a:rPr sz="712" b="1">
                <a:solidFill>
                  <a:srgbClr val="006FCF"/>
                </a:solidFill>
                <a:latin typeface="Arial"/>
              </a:rPr>
              <a:t>A T O M I C   C L A I M</a:t>
            </a:r>
          </a:p>
        </p:txBody>
      </p:sp>
      <p:sp>
        <p:nvSpPr>
          <p:cNvPr id="9" name="TextBox 8"/>
          <p:cNvSpPr txBox="1"/>
          <p:nvPr/>
        </p:nvSpPr>
        <p:spPr>
          <a:xfrm>
            <a:off x="5029200" y="2038350"/>
            <a:ext cx="1123950" cy="123825"/>
          </a:xfrm>
          <a:prstGeom prst="rect">
            <a:avLst/>
          </a:prstGeom>
          <a:noFill/>
        </p:spPr>
        <p:txBody>
          <a:bodyPr wrap="none" lIns="0" rIns="0" tIns="0" bIns="0" anchor="ctr">
            <a:spAutoFit/>
          </a:bodyPr>
          <a:lstStyle/>
          <a:p>
            <a:pPr algn="l">
              <a:lnSpc>
                <a:spcPct val="100000"/>
              </a:lnSpc>
            </a:pPr>
            <a:r>
              <a:rPr sz="712" b="1">
                <a:solidFill>
                  <a:srgbClr val="006FCF"/>
                </a:solidFill>
                <a:latin typeface="Arial"/>
              </a:rPr>
              <a:t>V E R D I C T</a:t>
            </a:r>
          </a:p>
        </p:txBody>
      </p:sp>
      <p:sp>
        <p:nvSpPr>
          <p:cNvPr id="10" name="TextBox 9"/>
          <p:cNvSpPr txBox="1"/>
          <p:nvPr/>
        </p:nvSpPr>
        <p:spPr>
          <a:xfrm>
            <a:off x="6324600" y="2038350"/>
            <a:ext cx="5448300" cy="123825"/>
          </a:xfrm>
          <a:prstGeom prst="rect">
            <a:avLst/>
          </a:prstGeom>
          <a:noFill/>
        </p:spPr>
        <p:txBody>
          <a:bodyPr wrap="none" lIns="0" rIns="0" tIns="0" bIns="0" anchor="ctr">
            <a:spAutoFit/>
          </a:bodyPr>
          <a:lstStyle/>
          <a:p>
            <a:pPr algn="l">
              <a:lnSpc>
                <a:spcPct val="100000"/>
              </a:lnSpc>
            </a:pPr>
            <a:r>
              <a:rPr sz="712" b="1">
                <a:solidFill>
                  <a:srgbClr val="006FCF"/>
                </a:solidFill>
                <a:latin typeface="Arial"/>
              </a:rPr>
              <a:t>T H E   R E A S O N I N G</a:t>
            </a:r>
          </a:p>
        </p:txBody>
      </p:sp>
      <p:sp>
        <p:nvSpPr>
          <p:cNvPr id="11" name="TextBox 10"/>
          <p:cNvSpPr txBox="1"/>
          <p:nvPr/>
        </p:nvSpPr>
        <p:spPr>
          <a:xfrm>
            <a:off x="8572500" y="2038350"/>
            <a:ext cx="3200400" cy="123825"/>
          </a:xfrm>
          <a:prstGeom prst="rect">
            <a:avLst/>
          </a:prstGeom>
          <a:noFill/>
        </p:spPr>
        <p:txBody>
          <a:bodyPr wrap="none" lIns="0" rIns="0" tIns="0" bIns="0" anchor="ctr">
            <a:spAutoFit/>
          </a:bodyPr>
          <a:lstStyle/>
          <a:p>
            <a:pPr algn="r">
              <a:lnSpc>
                <a:spcPct val="100000"/>
              </a:lnSpc>
            </a:pPr>
            <a:r>
              <a:rPr sz="637" b="0">
                <a:solidFill>
                  <a:srgbClr val="6B7A90"/>
                </a:solidFill>
                <a:latin typeface="Arial"/>
              </a:rPr>
              <a:t>8 of 12 eligible claims shown</a:t>
            </a:r>
          </a:p>
        </p:txBody>
      </p:sp>
      <p:cxnSp>
        <p:nvCxnSpPr>
          <p:cNvPr id="12" name="Connector 11"/>
          <p:cNvCxnSpPr/>
          <p:nvPr/>
        </p:nvCxnSpPr>
        <p:spPr>
          <a:xfrm>
            <a:off x="419100" y="2209800"/>
            <a:ext cx="1135380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19100" y="2286000"/>
            <a:ext cx="28575" cy="257175"/>
          </a:xfrm>
          <a:prstGeom prst="rect">
            <a:avLst/>
          </a:prstGeom>
          <a:solidFill>
            <a:srgbClr val="0A5C4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71500" y="2286000"/>
            <a:ext cx="4381500" cy="257175"/>
          </a:xfrm>
          <a:prstGeom prst="rect">
            <a:avLst/>
          </a:prstGeom>
          <a:noFill/>
        </p:spPr>
        <p:txBody>
          <a:bodyPr wrap="none" lIns="0" rIns="0" tIns="0" bIns="0" anchor="ctr">
            <a:spAutoFit/>
          </a:bodyPr>
          <a:lstStyle/>
          <a:p>
            <a:pPr algn="l">
              <a:lnSpc>
                <a:spcPct val="100000"/>
              </a:lnSpc>
            </a:pPr>
            <a:r>
              <a:rPr sz="712" b="0">
                <a:solidFill>
                  <a:srgbClr val="4A5568"/>
                </a:solidFill>
                <a:latin typeface="Arial"/>
              </a:rPr>
              <a:t>All spend — $44,912.26 — went to one merchant, Jan'26</a:t>
            </a:r>
          </a:p>
        </p:txBody>
      </p:sp>
      <p:sp>
        <p:nvSpPr>
          <p:cNvPr id="15" name="TextBox 14"/>
          <p:cNvSpPr txBox="1"/>
          <p:nvPr/>
        </p:nvSpPr>
        <p:spPr>
          <a:xfrm>
            <a:off x="5029200" y="2286000"/>
            <a:ext cx="1123950" cy="257175"/>
          </a:xfrm>
          <a:prstGeom prst="rect">
            <a:avLst/>
          </a:prstGeom>
          <a:noFill/>
        </p:spPr>
        <p:txBody>
          <a:bodyPr wrap="none" lIns="0" rIns="0" tIns="0" bIns="0" anchor="ctr">
            <a:spAutoFit/>
          </a:bodyPr>
          <a:lstStyle/>
          <a:p>
            <a:pPr algn="l">
              <a:lnSpc>
                <a:spcPct val="100000"/>
              </a:lnSpc>
            </a:pPr>
            <a:r>
              <a:rPr sz="675" b="1">
                <a:solidFill>
                  <a:srgbClr val="0A5C42"/>
                </a:solidFill>
                <a:latin typeface="Arial"/>
              </a:rPr>
              <a:t>supported</a:t>
            </a:r>
          </a:p>
        </p:txBody>
      </p:sp>
      <p:sp>
        <p:nvSpPr>
          <p:cNvPr id="16" name="TextBox 15"/>
          <p:cNvSpPr txBox="1"/>
          <p:nvPr/>
        </p:nvSpPr>
        <p:spPr>
          <a:xfrm>
            <a:off x="6324600" y="2286000"/>
            <a:ext cx="5448300" cy="257175"/>
          </a:xfrm>
          <a:prstGeom prst="rect">
            <a:avLst/>
          </a:prstGeom>
          <a:noFill/>
        </p:spPr>
        <p:txBody>
          <a:bodyPr wrap="square" lIns="0" rIns="0" tIns="0" bIns="0" anchor="ctr">
            <a:spAutoFit/>
          </a:bodyPr>
          <a:lstStyle/>
          <a:p>
            <a:pPr algn="l">
              <a:lnSpc>
                <a:spcPct val="108000"/>
              </a:lnSpc>
            </a:pPr>
            <a:r>
              <a:rPr sz="675" b="0">
                <a:solidFill>
                  <a:srgbClr val="6B7A90"/>
                </a:solidFill>
                <a:latin typeface="Arial"/>
              </a:rPr>
              <a:t>summarize_by_group(spends, by merchant): a single group, top1 = 1.00</a:t>
            </a:r>
          </a:p>
        </p:txBody>
      </p:sp>
      <p:sp>
        <p:nvSpPr>
          <p:cNvPr id="17" name="Rectangle 16"/>
          <p:cNvSpPr/>
          <p:nvPr/>
        </p:nvSpPr>
        <p:spPr>
          <a:xfrm>
            <a:off x="419100" y="2562225"/>
            <a:ext cx="28575" cy="257175"/>
          </a:xfrm>
          <a:prstGeom prst="rect">
            <a:avLst/>
          </a:prstGeom>
          <a:solidFill>
            <a:srgbClr val="0A5C4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571500" y="2562225"/>
            <a:ext cx="4381500" cy="257175"/>
          </a:xfrm>
          <a:prstGeom prst="rect">
            <a:avLst/>
          </a:prstGeom>
          <a:noFill/>
        </p:spPr>
        <p:txBody>
          <a:bodyPr wrap="none" lIns="0" rIns="0" tIns="0" bIns="0" anchor="ctr">
            <a:spAutoFit/>
          </a:bodyPr>
          <a:lstStyle/>
          <a:p>
            <a:pPr algn="l">
              <a:lnSpc>
                <a:spcPct val="100000"/>
              </a:lnSpc>
            </a:pPr>
            <a:r>
              <a:rPr sz="712" b="0">
                <a:solidFill>
                  <a:srgbClr val="4A5568"/>
                </a:solidFill>
                <a:latin typeface="Arial"/>
              </a:rPr>
              <a:t>Concentration breached &gt;2.4, peaking at 8.73, Dec'25–Jan'26</a:t>
            </a:r>
          </a:p>
        </p:txBody>
      </p:sp>
      <p:sp>
        <p:nvSpPr>
          <p:cNvPr id="19" name="TextBox 18"/>
          <p:cNvSpPr txBox="1"/>
          <p:nvPr/>
        </p:nvSpPr>
        <p:spPr>
          <a:xfrm>
            <a:off x="5029200" y="2562225"/>
            <a:ext cx="1123950" cy="257175"/>
          </a:xfrm>
          <a:prstGeom prst="rect">
            <a:avLst/>
          </a:prstGeom>
          <a:noFill/>
        </p:spPr>
        <p:txBody>
          <a:bodyPr wrap="none" lIns="0" rIns="0" tIns="0" bIns="0" anchor="ctr">
            <a:spAutoFit/>
          </a:bodyPr>
          <a:lstStyle/>
          <a:p>
            <a:pPr algn="l">
              <a:lnSpc>
                <a:spcPct val="100000"/>
              </a:lnSpc>
            </a:pPr>
            <a:r>
              <a:rPr sz="675" b="1">
                <a:solidFill>
                  <a:srgbClr val="0A5C42"/>
                </a:solidFill>
                <a:latin typeface="Arial"/>
              </a:rPr>
              <a:t>supported</a:t>
            </a:r>
          </a:p>
        </p:txBody>
      </p:sp>
      <p:sp>
        <p:nvSpPr>
          <p:cNvPr id="20" name="TextBox 19"/>
          <p:cNvSpPr txBox="1"/>
          <p:nvPr/>
        </p:nvSpPr>
        <p:spPr>
          <a:xfrm>
            <a:off x="6324600" y="2562225"/>
            <a:ext cx="5448300" cy="257175"/>
          </a:xfrm>
          <a:prstGeom prst="rect">
            <a:avLst/>
          </a:prstGeom>
          <a:noFill/>
        </p:spPr>
        <p:txBody>
          <a:bodyPr wrap="square" lIns="0" rIns="0" tIns="0" bIns="0" anchor="ctr">
            <a:spAutoFit/>
          </a:bodyPr>
          <a:lstStyle/>
          <a:p>
            <a:pPr algn="l">
              <a:lnSpc>
                <a:spcPct val="108000"/>
              </a:lnSpc>
            </a:pPr>
            <a:r>
              <a:rPr sz="675" b="0">
                <a:solidFill>
                  <a:srgbClr val="6B7A90"/>
                </a:solidFill>
                <a:latin typeface="Arial"/>
              </a:rPr>
              <a:t>aggregate_column(op=max) over that window returns 8.73</a:t>
            </a:r>
          </a:p>
        </p:txBody>
      </p:sp>
      <p:sp>
        <p:nvSpPr>
          <p:cNvPr id="21" name="Rectangle 20"/>
          <p:cNvSpPr/>
          <p:nvPr/>
        </p:nvSpPr>
        <p:spPr>
          <a:xfrm>
            <a:off x="419100" y="2838450"/>
            <a:ext cx="28575" cy="257175"/>
          </a:xfrm>
          <a:prstGeom prst="rect">
            <a:avLst/>
          </a:prstGeom>
          <a:solidFill>
            <a:srgbClr val="0A5C4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571500" y="2838450"/>
            <a:ext cx="4381500" cy="257175"/>
          </a:xfrm>
          <a:prstGeom prst="rect">
            <a:avLst/>
          </a:prstGeom>
          <a:noFill/>
        </p:spPr>
        <p:txBody>
          <a:bodyPr wrap="none" lIns="0" rIns="0" tIns="0" bIns="0" anchor="ctr">
            <a:spAutoFit/>
          </a:bodyPr>
          <a:lstStyle/>
          <a:p>
            <a:pPr algn="l">
              <a:lnSpc>
                <a:spcPct val="100000"/>
              </a:lnSpc>
            </a:pPr>
            <a:r>
              <a:rPr sz="712" b="0">
                <a:solidFill>
                  <a:srgbClr val="4A5568"/>
                </a:solidFill>
                <a:latin typeface="Arial"/>
              </a:rPr>
              <a:t>Model scores escalate only from Feb'26</a:t>
            </a:r>
          </a:p>
        </p:txBody>
      </p:sp>
      <p:sp>
        <p:nvSpPr>
          <p:cNvPr id="23" name="TextBox 22"/>
          <p:cNvSpPr txBox="1"/>
          <p:nvPr/>
        </p:nvSpPr>
        <p:spPr>
          <a:xfrm>
            <a:off x="5029200" y="2838450"/>
            <a:ext cx="1123950" cy="257175"/>
          </a:xfrm>
          <a:prstGeom prst="rect">
            <a:avLst/>
          </a:prstGeom>
          <a:noFill/>
        </p:spPr>
        <p:txBody>
          <a:bodyPr wrap="none" lIns="0" rIns="0" tIns="0" bIns="0" anchor="ctr">
            <a:spAutoFit/>
          </a:bodyPr>
          <a:lstStyle/>
          <a:p>
            <a:pPr algn="l">
              <a:lnSpc>
                <a:spcPct val="100000"/>
              </a:lnSpc>
            </a:pPr>
            <a:r>
              <a:rPr sz="675" b="1">
                <a:solidFill>
                  <a:srgbClr val="0A5C42"/>
                </a:solidFill>
                <a:latin typeface="Arial"/>
              </a:rPr>
              <a:t>supported</a:t>
            </a:r>
          </a:p>
        </p:txBody>
      </p:sp>
      <p:sp>
        <p:nvSpPr>
          <p:cNvPr id="24" name="TextBox 23"/>
          <p:cNvSpPr txBox="1"/>
          <p:nvPr/>
        </p:nvSpPr>
        <p:spPr>
          <a:xfrm>
            <a:off x="6324600" y="2838450"/>
            <a:ext cx="5448300" cy="257175"/>
          </a:xfrm>
          <a:prstGeom prst="rect">
            <a:avLst/>
          </a:prstGeom>
          <a:noFill/>
        </p:spPr>
        <p:txBody>
          <a:bodyPr wrap="square" lIns="0" rIns="0" tIns="0" bIns="0" anchor="ctr">
            <a:spAutoFit/>
          </a:bodyPr>
          <a:lstStyle/>
          <a:p>
            <a:pPr algn="l">
              <a:lnSpc>
                <a:spcPct val="108000"/>
              </a:lnSpc>
            </a:pPr>
            <a:r>
              <a:rPr sz="675" b="0">
                <a:solidFill>
                  <a:srgbClr val="6B7A90"/>
                </a:solidFill>
                <a:latin typeface="Arial"/>
              </a:rPr>
              <a:t>summarize_trend per month — first escalation month is 2026-02</a:t>
            </a:r>
          </a:p>
        </p:txBody>
      </p:sp>
      <p:sp>
        <p:nvSpPr>
          <p:cNvPr id="25" name="Rectangle 24"/>
          <p:cNvSpPr/>
          <p:nvPr/>
        </p:nvSpPr>
        <p:spPr>
          <a:xfrm>
            <a:off x="419100" y="3114675"/>
            <a:ext cx="28575" cy="257175"/>
          </a:xfrm>
          <a:prstGeom prst="rect">
            <a:avLst/>
          </a:prstGeom>
          <a:solidFill>
            <a:srgbClr val="0A5C4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571500" y="3114675"/>
            <a:ext cx="4381500" cy="257175"/>
          </a:xfrm>
          <a:prstGeom prst="rect">
            <a:avLst/>
          </a:prstGeom>
          <a:noFill/>
        </p:spPr>
        <p:txBody>
          <a:bodyPr wrap="none" lIns="0" rIns="0" tIns="0" bIns="0" anchor="ctr">
            <a:spAutoFit/>
          </a:bodyPr>
          <a:lstStyle/>
          <a:p>
            <a:pPr algn="l">
              <a:lnSpc>
                <a:spcPct val="100000"/>
              </a:lnSpc>
            </a:pPr>
            <a:r>
              <a:rPr sz="712" b="0">
                <a:solidFill>
                  <a:srgbClr val="4A5568"/>
                </a:solidFill>
                <a:latin typeface="Arial"/>
              </a:rPr>
              <a:t>→ risk scoring lags spend by ~1–2 months</a:t>
            </a:r>
          </a:p>
        </p:txBody>
      </p:sp>
      <p:sp>
        <p:nvSpPr>
          <p:cNvPr id="27" name="TextBox 26"/>
          <p:cNvSpPr txBox="1"/>
          <p:nvPr/>
        </p:nvSpPr>
        <p:spPr>
          <a:xfrm>
            <a:off x="5029200" y="3114675"/>
            <a:ext cx="1123950" cy="257175"/>
          </a:xfrm>
          <a:prstGeom prst="rect">
            <a:avLst/>
          </a:prstGeom>
          <a:noFill/>
        </p:spPr>
        <p:txBody>
          <a:bodyPr wrap="none" lIns="0" rIns="0" tIns="0" bIns="0" anchor="ctr">
            <a:spAutoFit/>
          </a:bodyPr>
          <a:lstStyle/>
          <a:p>
            <a:pPr algn="l">
              <a:lnSpc>
                <a:spcPct val="100000"/>
              </a:lnSpc>
            </a:pPr>
            <a:r>
              <a:rPr sz="675" b="1">
                <a:solidFill>
                  <a:srgbClr val="0A5C42"/>
                </a:solidFill>
                <a:latin typeface="Arial"/>
              </a:rPr>
              <a:t>supported</a:t>
            </a:r>
          </a:p>
        </p:txBody>
      </p:sp>
      <p:sp>
        <p:nvSpPr>
          <p:cNvPr id="28" name="TextBox 27"/>
          <p:cNvSpPr txBox="1"/>
          <p:nvPr/>
        </p:nvSpPr>
        <p:spPr>
          <a:xfrm>
            <a:off x="6324600" y="3114675"/>
            <a:ext cx="5448300" cy="257175"/>
          </a:xfrm>
          <a:prstGeom prst="rect">
            <a:avLst/>
          </a:prstGeom>
          <a:noFill/>
        </p:spPr>
        <p:txBody>
          <a:bodyPr wrap="square" lIns="0" rIns="0" tIns="0" bIns="0" anchor="ctr">
            <a:spAutoFit/>
          </a:bodyPr>
          <a:lstStyle/>
          <a:p>
            <a:pPr algn="l">
              <a:lnSpc>
                <a:spcPct val="108000"/>
              </a:lnSpc>
            </a:pPr>
            <a:r>
              <a:rPr sz="675" b="0">
                <a:solidFill>
                  <a:srgbClr val="6B7A90"/>
                </a:solidFill>
                <a:latin typeface="Arial"/>
              </a:rPr>
              <a:t>derived: the gap between two measured series, both in the trace</a:t>
            </a:r>
          </a:p>
        </p:txBody>
      </p:sp>
      <p:sp>
        <p:nvSpPr>
          <p:cNvPr id="29" name="Rectangle 28"/>
          <p:cNvSpPr/>
          <p:nvPr/>
        </p:nvSpPr>
        <p:spPr>
          <a:xfrm>
            <a:off x="419100" y="3390900"/>
            <a:ext cx="28575" cy="257175"/>
          </a:xfrm>
          <a:prstGeom prst="rect">
            <a:avLst/>
          </a:prstGeom>
          <a:solidFill>
            <a:srgbClr val="0A5C4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571500" y="3390900"/>
            <a:ext cx="4381500" cy="257175"/>
          </a:xfrm>
          <a:prstGeom prst="rect">
            <a:avLst/>
          </a:prstGeom>
          <a:noFill/>
        </p:spPr>
        <p:txBody>
          <a:bodyPr wrap="none" lIns="0" rIns="0" tIns="0" bIns="0" anchor="ctr">
            <a:spAutoFit/>
          </a:bodyPr>
          <a:lstStyle/>
          <a:p>
            <a:pPr algn="l">
              <a:lnSpc>
                <a:spcPct val="100000"/>
              </a:lnSpc>
            </a:pPr>
            <a:r>
              <a:rPr sz="712" b="0">
                <a:solidFill>
                  <a:srgbClr val="4A5568"/>
                </a:solidFill>
                <a:latin typeface="Arial"/>
              </a:rPr>
              <a:t>FICO 787 (Aug'25) → 606 (May'26), no new delinquencies</a:t>
            </a:r>
          </a:p>
        </p:txBody>
      </p:sp>
      <p:sp>
        <p:nvSpPr>
          <p:cNvPr id="31" name="TextBox 30"/>
          <p:cNvSpPr txBox="1"/>
          <p:nvPr/>
        </p:nvSpPr>
        <p:spPr>
          <a:xfrm>
            <a:off x="5029200" y="3390900"/>
            <a:ext cx="1123950" cy="257175"/>
          </a:xfrm>
          <a:prstGeom prst="rect">
            <a:avLst/>
          </a:prstGeom>
          <a:noFill/>
        </p:spPr>
        <p:txBody>
          <a:bodyPr wrap="none" lIns="0" rIns="0" tIns="0" bIns="0" anchor="ctr">
            <a:spAutoFit/>
          </a:bodyPr>
          <a:lstStyle/>
          <a:p>
            <a:pPr algn="l">
              <a:lnSpc>
                <a:spcPct val="100000"/>
              </a:lnSpc>
            </a:pPr>
            <a:r>
              <a:rPr sz="675" b="1">
                <a:solidFill>
                  <a:srgbClr val="0A5C42"/>
                </a:solidFill>
                <a:latin typeface="Arial"/>
              </a:rPr>
              <a:t>supported</a:t>
            </a:r>
          </a:p>
        </p:txBody>
      </p:sp>
      <p:sp>
        <p:nvSpPr>
          <p:cNvPr id="32" name="TextBox 31"/>
          <p:cNvSpPr txBox="1"/>
          <p:nvPr/>
        </p:nvSpPr>
        <p:spPr>
          <a:xfrm>
            <a:off x="6324600" y="3390900"/>
            <a:ext cx="5448300" cy="257175"/>
          </a:xfrm>
          <a:prstGeom prst="rect">
            <a:avLst/>
          </a:prstGeom>
          <a:noFill/>
        </p:spPr>
        <p:txBody>
          <a:bodyPr wrap="square" lIns="0" rIns="0" tIns="0" bIns="0" anchor="ctr">
            <a:spAutoFit/>
          </a:bodyPr>
          <a:lstStyle/>
          <a:p>
            <a:pPr algn="l">
              <a:lnSpc>
                <a:spcPct val="108000"/>
              </a:lnSpc>
            </a:pPr>
            <a:r>
              <a:rPr sz="675" b="0">
                <a:solidFill>
                  <a:srgbClr val="6B7A90"/>
                </a:solidFill>
                <a:latin typeface="Arial"/>
              </a:rPr>
              <a:t>bureau trend + delinquent_external_trades = 0 over the same window</a:t>
            </a:r>
          </a:p>
        </p:txBody>
      </p:sp>
      <p:sp>
        <p:nvSpPr>
          <p:cNvPr id="33" name="Rectangle 32"/>
          <p:cNvSpPr/>
          <p:nvPr/>
        </p:nvSpPr>
        <p:spPr>
          <a:xfrm>
            <a:off x="419100" y="3667125"/>
            <a:ext cx="28575" cy="257175"/>
          </a:xfrm>
          <a:prstGeom prst="rect">
            <a:avLst/>
          </a:prstGeom>
          <a:solidFill>
            <a:srgbClr val="0A5C4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571500" y="3667125"/>
            <a:ext cx="4381500" cy="257175"/>
          </a:xfrm>
          <a:prstGeom prst="rect">
            <a:avLst/>
          </a:prstGeom>
          <a:noFill/>
        </p:spPr>
        <p:txBody>
          <a:bodyPr wrap="none" lIns="0" rIns="0" tIns="0" bIns="0" anchor="ctr">
            <a:spAutoFit/>
          </a:bodyPr>
          <a:lstStyle/>
          <a:p>
            <a:pPr algn="l">
              <a:lnSpc>
                <a:spcPct val="100000"/>
              </a:lnSpc>
            </a:pPr>
            <a:r>
              <a:rPr sz="712" b="0">
                <a:solidFill>
                  <a:srgbClr val="4A5568"/>
                </a:solidFill>
                <a:latin typeface="Arial"/>
              </a:rPr>
              <a:t>No payment returns; no bureau-inquiry data exists</a:t>
            </a:r>
          </a:p>
        </p:txBody>
      </p:sp>
      <p:sp>
        <p:nvSpPr>
          <p:cNvPr id="35" name="TextBox 34"/>
          <p:cNvSpPr txBox="1"/>
          <p:nvPr/>
        </p:nvSpPr>
        <p:spPr>
          <a:xfrm>
            <a:off x="5029200" y="3667125"/>
            <a:ext cx="1123950" cy="257175"/>
          </a:xfrm>
          <a:prstGeom prst="rect">
            <a:avLst/>
          </a:prstGeom>
          <a:noFill/>
        </p:spPr>
        <p:txBody>
          <a:bodyPr wrap="none" lIns="0" rIns="0" tIns="0" bIns="0" anchor="ctr">
            <a:spAutoFit/>
          </a:bodyPr>
          <a:lstStyle/>
          <a:p>
            <a:pPr algn="l">
              <a:lnSpc>
                <a:spcPct val="100000"/>
              </a:lnSpc>
            </a:pPr>
            <a:r>
              <a:rPr sz="675" b="1">
                <a:solidFill>
                  <a:srgbClr val="0A5C42"/>
                </a:solidFill>
                <a:latin typeface="Arial"/>
              </a:rPr>
              <a:t>supported</a:t>
            </a:r>
          </a:p>
        </p:txBody>
      </p:sp>
      <p:sp>
        <p:nvSpPr>
          <p:cNvPr id="36" name="TextBox 35"/>
          <p:cNvSpPr txBox="1"/>
          <p:nvPr/>
        </p:nvSpPr>
        <p:spPr>
          <a:xfrm>
            <a:off x="6324600" y="3667125"/>
            <a:ext cx="5448300" cy="257175"/>
          </a:xfrm>
          <a:prstGeom prst="rect">
            <a:avLst/>
          </a:prstGeom>
          <a:noFill/>
        </p:spPr>
        <p:txBody>
          <a:bodyPr wrap="square" lIns="0" rIns="0" tIns="0" bIns="0" anchor="ctr">
            <a:spAutoFit/>
          </a:bodyPr>
          <a:lstStyle/>
          <a:p>
            <a:pPr algn="l">
              <a:lnSpc>
                <a:spcPct val="108000"/>
              </a:lnSpc>
            </a:pPr>
            <a:r>
              <a:rPr sz="675" b="0">
                <a:solidFill>
                  <a:srgbClr val="6B7A90"/>
                </a:solidFill>
                <a:latin typeface="Arial"/>
              </a:rPr>
              <a:t>both are </a:t>
            </a:r>
            <a:r>
              <a:rPr sz="675" b="1">
                <a:solidFill>
                  <a:srgbClr val="6B7A90"/>
                </a:solidFill>
                <a:latin typeface="Arial"/>
              </a:rPr>
              <a:t>checked non-findings</a:t>
            </a:r>
            <a:r>
              <a:rPr sz="675" b="0">
                <a:solidFill>
                  <a:srgbClr val="6B7A90"/>
                </a:solidFill>
                <a:latin typeface="Arial"/>
              </a:rPr>
              <a:t> — a checked non-finding is a result</a:t>
            </a:r>
          </a:p>
        </p:txBody>
      </p:sp>
      <p:sp>
        <p:nvSpPr>
          <p:cNvPr id="37" name="Rectangle 36"/>
          <p:cNvSpPr/>
          <p:nvPr/>
        </p:nvSpPr>
        <p:spPr>
          <a:xfrm>
            <a:off x="419100" y="3943350"/>
            <a:ext cx="11353800" cy="257175"/>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Rectangle 37"/>
          <p:cNvSpPr/>
          <p:nvPr/>
        </p:nvSpPr>
        <p:spPr>
          <a:xfrm>
            <a:off x="419100" y="3943350"/>
            <a:ext cx="28575" cy="257175"/>
          </a:xfrm>
          <a:prstGeom prst="rect">
            <a:avLst/>
          </a:prstGeom>
          <a:solidFill>
            <a:srgbClr val="A03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571500" y="3943350"/>
            <a:ext cx="4381500" cy="257175"/>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“…a 20.9% decline”</a:t>
            </a:r>
          </a:p>
        </p:txBody>
      </p:sp>
      <p:sp>
        <p:nvSpPr>
          <p:cNvPr id="40" name="TextBox 39"/>
          <p:cNvSpPr txBox="1"/>
          <p:nvPr/>
        </p:nvSpPr>
        <p:spPr>
          <a:xfrm>
            <a:off x="5029200" y="3943350"/>
            <a:ext cx="1123950" cy="257175"/>
          </a:xfrm>
          <a:prstGeom prst="rect">
            <a:avLst/>
          </a:prstGeom>
          <a:noFill/>
        </p:spPr>
        <p:txBody>
          <a:bodyPr wrap="none" lIns="0" rIns="0" tIns="0" bIns="0" anchor="ctr">
            <a:spAutoFit/>
          </a:bodyPr>
          <a:lstStyle/>
          <a:p>
            <a:pPr algn="l">
              <a:lnSpc>
                <a:spcPct val="100000"/>
              </a:lnSpc>
            </a:pPr>
            <a:r>
              <a:rPr sz="675" b="1">
                <a:solidFill>
                  <a:srgbClr val="A03530"/>
                </a:solidFill>
                <a:latin typeface="Arial"/>
              </a:rPr>
              <a:t>UNSUPPORTED</a:t>
            </a:r>
          </a:p>
        </p:txBody>
      </p:sp>
      <p:sp>
        <p:nvSpPr>
          <p:cNvPr id="41" name="TextBox 40"/>
          <p:cNvSpPr txBox="1"/>
          <p:nvPr/>
        </p:nvSpPr>
        <p:spPr>
          <a:xfrm>
            <a:off x="6324600" y="3943350"/>
            <a:ext cx="5448300" cy="257175"/>
          </a:xfrm>
          <a:prstGeom prst="rect">
            <a:avLst/>
          </a:prstGeom>
          <a:noFill/>
        </p:spPr>
        <p:txBody>
          <a:bodyPr wrap="square" lIns="0" rIns="0" tIns="0" bIns="0" anchor="ctr">
            <a:spAutoFit/>
          </a:bodyPr>
          <a:lstStyle/>
          <a:p>
            <a:pPr algn="l">
              <a:lnSpc>
                <a:spcPct val="108000"/>
              </a:lnSpc>
            </a:pPr>
            <a:r>
              <a:rPr sz="675" b="0">
                <a:solidFill>
                  <a:srgbClr val="6B7A90"/>
                </a:solidFill>
                <a:latin typeface="Arial"/>
              </a:rPr>
              <a:t>its own cited endpoints give </a:t>
            </a:r>
            <a:r>
              <a:rPr sz="675" b="1">
                <a:solidFill>
                  <a:srgbClr val="6B7A90"/>
                </a:solidFill>
                <a:latin typeface="Arial"/>
              </a:rPr>
              <a:t>23.0%</a:t>
            </a:r>
            <a:r>
              <a:rPr sz="675" b="0">
                <a:solidFill>
                  <a:srgbClr val="6B7A90"/>
                </a:solidFill>
                <a:latin typeface="Arial"/>
              </a:rPr>
              <a:t>. The derived value does not follow from the evidence beside it.</a:t>
            </a:r>
          </a:p>
        </p:txBody>
      </p:sp>
      <p:sp>
        <p:nvSpPr>
          <p:cNvPr id="42" name="Rectangle 41"/>
          <p:cNvSpPr/>
          <p:nvPr/>
        </p:nvSpPr>
        <p:spPr>
          <a:xfrm>
            <a:off x="419100" y="4219575"/>
            <a:ext cx="11353800" cy="257175"/>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Rectangle 42"/>
          <p:cNvSpPr/>
          <p:nvPr/>
        </p:nvSpPr>
        <p:spPr>
          <a:xfrm>
            <a:off x="419100" y="4219575"/>
            <a:ext cx="28575" cy="257175"/>
          </a:xfrm>
          <a:prstGeom prst="rect">
            <a:avLst/>
          </a:prstGeom>
          <a:solidFill>
            <a:srgbClr val="A03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571500" y="4219575"/>
            <a:ext cx="4381500" cy="257175"/>
          </a:xfrm>
          <a:prstGeom prst="rect">
            <a:avLst/>
          </a:prstGeom>
          <a:noFill/>
        </p:spPr>
        <p:txBody>
          <a:bodyPr wrap="none" lIns="0" rIns="0" tIns="0" bIns="0" anchor="ctr">
            <a:spAutoFit/>
          </a:bodyPr>
          <a:lstStyle/>
          <a:p>
            <a:pPr algn="l">
              <a:lnSpc>
                <a:spcPct val="100000"/>
              </a:lnSpc>
            </a:pPr>
            <a:r>
              <a:rPr sz="712" b="1">
                <a:solidFill>
                  <a:srgbClr val="00175A"/>
                </a:solidFill>
                <a:latin typeface="Arial"/>
              </a:rPr>
              <a:t>“the drivers were redundant”</a:t>
            </a:r>
          </a:p>
        </p:txBody>
      </p:sp>
      <p:sp>
        <p:nvSpPr>
          <p:cNvPr id="45" name="TextBox 44"/>
          <p:cNvSpPr txBox="1"/>
          <p:nvPr/>
        </p:nvSpPr>
        <p:spPr>
          <a:xfrm>
            <a:off x="5029200" y="4219575"/>
            <a:ext cx="1123950" cy="257175"/>
          </a:xfrm>
          <a:prstGeom prst="rect">
            <a:avLst/>
          </a:prstGeom>
          <a:noFill/>
        </p:spPr>
        <p:txBody>
          <a:bodyPr wrap="none" lIns="0" rIns="0" tIns="0" bIns="0" anchor="ctr">
            <a:spAutoFit/>
          </a:bodyPr>
          <a:lstStyle/>
          <a:p>
            <a:pPr algn="l">
              <a:lnSpc>
                <a:spcPct val="100000"/>
              </a:lnSpc>
            </a:pPr>
            <a:r>
              <a:rPr sz="675" b="1">
                <a:solidFill>
                  <a:srgbClr val="A03530"/>
                </a:solidFill>
                <a:latin typeface="Arial"/>
              </a:rPr>
              <a:t>UNSUPPORTED</a:t>
            </a:r>
          </a:p>
        </p:txBody>
      </p:sp>
      <p:sp>
        <p:nvSpPr>
          <p:cNvPr id="46" name="TextBox 45"/>
          <p:cNvSpPr txBox="1"/>
          <p:nvPr/>
        </p:nvSpPr>
        <p:spPr>
          <a:xfrm>
            <a:off x="6324600" y="4219575"/>
            <a:ext cx="5448300" cy="257175"/>
          </a:xfrm>
          <a:prstGeom prst="rect">
            <a:avLst/>
          </a:prstGeom>
          <a:noFill/>
        </p:spPr>
        <p:txBody>
          <a:bodyPr wrap="square" lIns="0" rIns="0" tIns="0" bIns="0" anchor="ctr">
            <a:spAutoFit/>
          </a:bodyPr>
          <a:lstStyle/>
          <a:p>
            <a:pPr algn="l">
              <a:lnSpc>
                <a:spcPct val="108000"/>
              </a:lnSpc>
            </a:pPr>
            <a:r>
              <a:rPr sz="675" b="0">
                <a:solidFill>
                  <a:srgbClr val="6B7A90"/>
                </a:solidFill>
                <a:latin typeface="Arial"/>
              </a:rPr>
              <a:t>redundancy IS countable — driver correlation — but the trace only ranked drivers by frequency. Never computed.</a:t>
            </a:r>
          </a:p>
        </p:txBody>
      </p:sp>
      <p:sp>
        <p:nvSpPr>
          <p:cNvPr id="47" name="TextBox 46"/>
          <p:cNvSpPr txBox="1"/>
          <p:nvPr/>
        </p:nvSpPr>
        <p:spPr>
          <a:xfrm>
            <a:off x="419100" y="4610100"/>
            <a:ext cx="6667500" cy="123825"/>
          </a:xfrm>
          <a:prstGeom prst="rect">
            <a:avLst/>
          </a:prstGeom>
          <a:noFill/>
        </p:spPr>
        <p:txBody>
          <a:bodyPr wrap="none" lIns="0" rIns="0" tIns="0" bIns="0" anchor="ctr">
            <a:spAutoFit/>
          </a:bodyPr>
          <a:lstStyle/>
          <a:p>
            <a:pPr algn="l">
              <a:lnSpc>
                <a:spcPct val="100000"/>
              </a:lnSpc>
            </a:pPr>
            <a:r>
              <a:rPr sz="712" b="1">
                <a:solidFill>
                  <a:srgbClr val="6B7A90"/>
                </a:solidFill>
                <a:latin typeface="Arial"/>
              </a:rPr>
              <a:t>N O T   E L I G I B L E   —   A N D   W H Y</a:t>
            </a:r>
          </a:p>
        </p:txBody>
      </p:sp>
      <p:sp>
        <p:nvSpPr>
          <p:cNvPr id="48" name="Rectangle 47"/>
          <p:cNvSpPr/>
          <p:nvPr/>
        </p:nvSpPr>
        <p:spPr>
          <a:xfrm>
            <a:off x="419100" y="4781550"/>
            <a:ext cx="6667500" cy="14097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Rectangle 48"/>
          <p:cNvSpPr/>
          <p:nvPr/>
        </p:nvSpPr>
        <p:spPr>
          <a:xfrm>
            <a:off x="419100" y="4781550"/>
            <a:ext cx="38100" cy="1409700"/>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TextBox 49"/>
          <p:cNvSpPr txBox="1"/>
          <p:nvPr/>
        </p:nvSpPr>
        <p:spPr>
          <a:xfrm>
            <a:off x="609600" y="4876800"/>
            <a:ext cx="2762250" cy="142875"/>
          </a:xfrm>
          <a:prstGeom prst="rect">
            <a:avLst/>
          </a:prstGeom>
          <a:noFill/>
        </p:spPr>
        <p:txBody>
          <a:bodyPr wrap="none" lIns="0" rIns="0" tIns="0" bIns="0" anchor="ctr">
            <a:spAutoFit/>
          </a:bodyPr>
          <a:lstStyle/>
          <a:p>
            <a:pPr algn="l">
              <a:lnSpc>
                <a:spcPct val="100000"/>
              </a:lnSpc>
            </a:pPr>
            <a:r>
              <a:rPr sz="750" b="1">
                <a:solidFill>
                  <a:srgbClr val="00175A"/>
                </a:solidFill>
                <a:latin typeface="Arial"/>
              </a:rPr>
              <a:t>“missing actionable windows”</a:t>
            </a:r>
          </a:p>
        </p:txBody>
      </p:sp>
      <p:sp>
        <p:nvSpPr>
          <p:cNvPr id="51" name="TextBox 50"/>
          <p:cNvSpPr txBox="1"/>
          <p:nvPr/>
        </p:nvSpPr>
        <p:spPr>
          <a:xfrm>
            <a:off x="609600" y="5029200"/>
            <a:ext cx="2762250" cy="123825"/>
          </a:xfrm>
          <a:prstGeom prst="rect">
            <a:avLst/>
          </a:prstGeom>
          <a:noFill/>
        </p:spPr>
        <p:txBody>
          <a:bodyPr wrap="none" lIns="0" rIns="0" tIns="0" bIns="0" anchor="ctr">
            <a:spAutoFit/>
          </a:bodyPr>
          <a:lstStyle/>
          <a:p>
            <a:pPr algn="l">
              <a:lnSpc>
                <a:spcPct val="100000"/>
              </a:lnSpc>
            </a:pPr>
            <a:r>
              <a:rPr sz="600" b="1">
                <a:solidFill>
                  <a:srgbClr val="6B7A90"/>
                </a:solidFill>
                <a:latin typeface="Arial"/>
              </a:rPr>
              <a:t>NO REFERENT</a:t>
            </a:r>
          </a:p>
        </p:txBody>
      </p:sp>
      <p:sp>
        <p:nvSpPr>
          <p:cNvPr id="52" name="TextBox 51"/>
          <p:cNvSpPr txBox="1"/>
          <p:nvPr/>
        </p:nvSpPr>
        <p:spPr>
          <a:xfrm>
            <a:off x="3543300" y="4876800"/>
            <a:ext cx="3390900" cy="304800"/>
          </a:xfrm>
          <a:prstGeom prst="rect">
            <a:avLst/>
          </a:prstGeom>
          <a:noFill/>
        </p:spPr>
        <p:txBody>
          <a:bodyPr wrap="square" lIns="0" rIns="0" tIns="0" bIns="0" anchor="ctr">
            <a:spAutoFit/>
          </a:bodyPr>
          <a:lstStyle/>
          <a:p>
            <a:pPr algn="l">
              <a:lnSpc>
                <a:spcPct val="112000"/>
              </a:lnSpc>
            </a:pPr>
            <a:r>
              <a:rPr sz="712" b="0">
                <a:solidFill>
                  <a:srgbClr val="4A5568"/>
                </a:solidFill>
                <a:latin typeface="Arial"/>
              </a:rPr>
              <a:t>no column defines an actionable window — the lag is countable, the loss is not</a:t>
            </a:r>
          </a:p>
        </p:txBody>
      </p:sp>
      <p:sp>
        <p:nvSpPr>
          <p:cNvPr id="53" name="TextBox 52"/>
          <p:cNvSpPr txBox="1"/>
          <p:nvPr/>
        </p:nvSpPr>
        <p:spPr>
          <a:xfrm>
            <a:off x="609600" y="5305425"/>
            <a:ext cx="2762250" cy="142875"/>
          </a:xfrm>
          <a:prstGeom prst="rect">
            <a:avLst/>
          </a:prstGeom>
          <a:noFill/>
        </p:spPr>
        <p:txBody>
          <a:bodyPr wrap="none" lIns="0" rIns="0" tIns="0" bIns="0" anchor="ctr">
            <a:spAutoFit/>
          </a:bodyPr>
          <a:lstStyle/>
          <a:p>
            <a:pPr algn="l">
              <a:lnSpc>
                <a:spcPct val="100000"/>
              </a:lnSpc>
            </a:pPr>
            <a:r>
              <a:rPr sz="750" b="1">
                <a:solidFill>
                  <a:srgbClr val="00175A"/>
                </a:solidFill>
                <a:latin typeface="Arial"/>
              </a:rPr>
              <a:t>“unrealized mitigation avenues”</a:t>
            </a:r>
          </a:p>
        </p:txBody>
      </p:sp>
      <p:sp>
        <p:nvSpPr>
          <p:cNvPr id="54" name="TextBox 53"/>
          <p:cNvSpPr txBox="1"/>
          <p:nvPr/>
        </p:nvSpPr>
        <p:spPr>
          <a:xfrm>
            <a:off x="609600" y="5457825"/>
            <a:ext cx="2762250" cy="123825"/>
          </a:xfrm>
          <a:prstGeom prst="rect">
            <a:avLst/>
          </a:prstGeom>
          <a:noFill/>
        </p:spPr>
        <p:txBody>
          <a:bodyPr wrap="none" lIns="0" rIns="0" tIns="0" bIns="0" anchor="ctr">
            <a:spAutoFit/>
          </a:bodyPr>
          <a:lstStyle/>
          <a:p>
            <a:pPr algn="l">
              <a:lnSpc>
                <a:spcPct val="100000"/>
              </a:lnSpc>
            </a:pPr>
            <a:r>
              <a:rPr sz="600" b="1">
                <a:solidFill>
                  <a:srgbClr val="6B7A90"/>
                </a:solidFill>
                <a:latin typeface="Arial"/>
              </a:rPr>
              <a:t>JUDGEMENT</a:t>
            </a:r>
          </a:p>
        </p:txBody>
      </p:sp>
      <p:sp>
        <p:nvSpPr>
          <p:cNvPr id="55" name="TextBox 54"/>
          <p:cNvSpPr txBox="1"/>
          <p:nvPr/>
        </p:nvSpPr>
        <p:spPr>
          <a:xfrm>
            <a:off x="3543300" y="5305425"/>
            <a:ext cx="3390900" cy="304800"/>
          </a:xfrm>
          <a:prstGeom prst="rect">
            <a:avLst/>
          </a:prstGeom>
          <a:noFill/>
        </p:spPr>
        <p:txBody>
          <a:bodyPr wrap="square" lIns="0" rIns="0" tIns="0" bIns="0" anchor="ctr">
            <a:spAutoFit/>
          </a:bodyPr>
          <a:lstStyle/>
          <a:p>
            <a:pPr algn="l">
              <a:lnSpc>
                <a:spcPct val="112000"/>
              </a:lnSpc>
            </a:pPr>
            <a:r>
              <a:rPr sz="712" b="0">
                <a:solidFill>
                  <a:srgbClr val="4A5568"/>
                </a:solidFill>
                <a:latin typeface="Arial"/>
              </a:rPr>
              <a:t>an interpretation laid over a supported fact; nothing marks headroom as opportunity</a:t>
            </a:r>
          </a:p>
        </p:txBody>
      </p:sp>
      <p:sp>
        <p:nvSpPr>
          <p:cNvPr id="56" name="TextBox 55"/>
          <p:cNvSpPr txBox="1"/>
          <p:nvPr/>
        </p:nvSpPr>
        <p:spPr>
          <a:xfrm>
            <a:off x="609600" y="5734050"/>
            <a:ext cx="2762250" cy="142875"/>
          </a:xfrm>
          <a:prstGeom prst="rect">
            <a:avLst/>
          </a:prstGeom>
          <a:noFill/>
        </p:spPr>
        <p:txBody>
          <a:bodyPr wrap="none" lIns="0" rIns="0" tIns="0" bIns="0" anchor="ctr">
            <a:spAutoFit/>
          </a:bodyPr>
          <a:lstStyle/>
          <a:p>
            <a:pPr algn="l">
              <a:lnSpc>
                <a:spcPct val="100000"/>
              </a:lnSpc>
            </a:pPr>
            <a:r>
              <a:rPr sz="750" b="1">
                <a:solidFill>
                  <a:srgbClr val="00175A"/>
                </a:solidFill>
                <a:latin typeface="Arial"/>
              </a:rPr>
              <a:t>“missed triggers for early warning”</a:t>
            </a:r>
          </a:p>
        </p:txBody>
      </p:sp>
      <p:sp>
        <p:nvSpPr>
          <p:cNvPr id="57" name="TextBox 56"/>
          <p:cNvSpPr txBox="1"/>
          <p:nvPr/>
        </p:nvSpPr>
        <p:spPr>
          <a:xfrm>
            <a:off x="609600" y="5886450"/>
            <a:ext cx="2762250" cy="123825"/>
          </a:xfrm>
          <a:prstGeom prst="rect">
            <a:avLst/>
          </a:prstGeom>
          <a:noFill/>
        </p:spPr>
        <p:txBody>
          <a:bodyPr wrap="none" lIns="0" rIns="0" tIns="0" bIns="0" anchor="ctr">
            <a:spAutoFit/>
          </a:bodyPr>
          <a:lstStyle/>
          <a:p>
            <a:pPr algn="l">
              <a:lnSpc>
                <a:spcPct val="100000"/>
              </a:lnSpc>
            </a:pPr>
            <a:r>
              <a:rPr sz="600" b="1">
                <a:solidFill>
                  <a:srgbClr val="6B7A90"/>
                </a:solidFill>
                <a:latin typeface="Arial"/>
              </a:rPr>
              <a:t>COUNTERFACTUAL</a:t>
            </a:r>
          </a:p>
        </p:txBody>
      </p:sp>
      <p:sp>
        <p:nvSpPr>
          <p:cNvPr id="58" name="TextBox 57"/>
          <p:cNvSpPr txBox="1"/>
          <p:nvPr/>
        </p:nvSpPr>
        <p:spPr>
          <a:xfrm>
            <a:off x="3543300" y="5734050"/>
            <a:ext cx="3390900" cy="304800"/>
          </a:xfrm>
          <a:prstGeom prst="rect">
            <a:avLst/>
          </a:prstGeom>
          <a:noFill/>
        </p:spPr>
        <p:txBody>
          <a:bodyPr wrap="square" lIns="0" rIns="0" tIns="0" bIns="0" anchor="ctr">
            <a:spAutoFit/>
          </a:bodyPr>
          <a:lstStyle/>
          <a:p>
            <a:pPr algn="l">
              <a:lnSpc>
                <a:spcPct val="112000"/>
              </a:lnSpc>
            </a:pPr>
            <a:r>
              <a:rPr sz="712" b="0">
                <a:solidFill>
                  <a:srgbClr val="4A5568"/>
                </a:solidFill>
                <a:latin typeface="Arial"/>
              </a:rPr>
              <a:t>asserts what would have happened — the data records what did</a:t>
            </a:r>
          </a:p>
        </p:txBody>
      </p:sp>
      <p:sp>
        <p:nvSpPr>
          <p:cNvPr id="59" name="Rectangle 58"/>
          <p:cNvSpPr/>
          <p:nvPr/>
        </p:nvSpPr>
        <p:spPr>
          <a:xfrm>
            <a:off x="7315200" y="4781550"/>
            <a:ext cx="2152650" cy="1409700"/>
          </a:xfrm>
          <a:prstGeom prst="rect">
            <a:avLst/>
          </a:prstGeom>
          <a:solidFill>
            <a:srgbClr val="FFFFFF"/>
          </a:solidFill>
          <a:ln w="9525">
            <a:solidFill>
              <a:srgbClr val="006FC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0" name="Rectangle 59"/>
          <p:cNvSpPr/>
          <p:nvPr/>
        </p:nvSpPr>
        <p:spPr>
          <a:xfrm>
            <a:off x="7315200" y="4781550"/>
            <a:ext cx="38100" cy="1409700"/>
          </a:xfrm>
          <a:prstGeom prst="rect">
            <a:avLst/>
          </a:prstGeom>
          <a:solidFill>
            <a:srgbClr val="00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1" name="TextBox 60"/>
          <p:cNvSpPr txBox="1"/>
          <p:nvPr/>
        </p:nvSpPr>
        <p:spPr>
          <a:xfrm>
            <a:off x="7524750" y="4914900"/>
            <a:ext cx="1809750" cy="123825"/>
          </a:xfrm>
          <a:prstGeom prst="rect">
            <a:avLst/>
          </a:prstGeom>
          <a:noFill/>
        </p:spPr>
        <p:txBody>
          <a:bodyPr wrap="none" lIns="0" rIns="0" tIns="0" bIns="0" anchor="ctr">
            <a:spAutoFit/>
          </a:bodyPr>
          <a:lstStyle/>
          <a:p>
            <a:pPr algn="l">
              <a:lnSpc>
                <a:spcPct val="100000"/>
              </a:lnSpc>
            </a:pPr>
            <a:r>
              <a:rPr sz="750" b="1">
                <a:solidFill>
                  <a:srgbClr val="006FCF"/>
                </a:solidFill>
                <a:latin typeface="Arial"/>
              </a:rPr>
              <a:t>GROUNDED RATE</a:t>
            </a:r>
          </a:p>
        </p:txBody>
      </p:sp>
      <p:sp>
        <p:nvSpPr>
          <p:cNvPr id="62" name="TextBox 61"/>
          <p:cNvSpPr txBox="1"/>
          <p:nvPr/>
        </p:nvSpPr>
        <p:spPr>
          <a:xfrm>
            <a:off x="7524750" y="5086350"/>
            <a:ext cx="1809750" cy="400050"/>
          </a:xfrm>
          <a:prstGeom prst="rect">
            <a:avLst/>
          </a:prstGeom>
          <a:noFill/>
        </p:spPr>
        <p:txBody>
          <a:bodyPr wrap="none" lIns="0" rIns="0" tIns="0" bIns="0" anchor="ctr">
            <a:spAutoFit/>
          </a:bodyPr>
          <a:lstStyle/>
          <a:p>
            <a:pPr algn="l">
              <a:lnSpc>
                <a:spcPct val="100000"/>
              </a:lnSpc>
            </a:pPr>
            <a:r>
              <a:rPr sz="2250" b="1">
                <a:solidFill>
                  <a:srgbClr val="00175A"/>
                </a:solidFill>
                <a:latin typeface="Arial"/>
              </a:rPr>
              <a:t>10 / 12</a:t>
            </a:r>
          </a:p>
        </p:txBody>
      </p:sp>
      <p:sp>
        <p:nvSpPr>
          <p:cNvPr id="63" name="TextBox 62"/>
          <p:cNvSpPr txBox="1"/>
          <p:nvPr/>
        </p:nvSpPr>
        <p:spPr>
          <a:xfrm>
            <a:off x="7524750" y="5543550"/>
            <a:ext cx="1809750" cy="161925"/>
          </a:xfrm>
          <a:prstGeom prst="rect">
            <a:avLst/>
          </a:prstGeom>
          <a:noFill/>
        </p:spPr>
        <p:txBody>
          <a:bodyPr wrap="none" lIns="0" rIns="0" tIns="0" bIns="0" anchor="ctr">
            <a:spAutoFit/>
          </a:bodyPr>
          <a:lstStyle/>
          <a:p>
            <a:pPr algn="l">
              <a:lnSpc>
                <a:spcPct val="100000"/>
              </a:lnSpc>
            </a:pPr>
            <a:r>
              <a:rPr sz="975" b="1">
                <a:solidFill>
                  <a:srgbClr val="00175A"/>
                </a:solidFill>
                <a:latin typeface="Arial"/>
              </a:rPr>
              <a:t>83%</a:t>
            </a:r>
          </a:p>
        </p:txBody>
      </p:sp>
      <p:sp>
        <p:nvSpPr>
          <p:cNvPr id="64" name="TextBox 63"/>
          <p:cNvSpPr txBox="1"/>
          <p:nvPr/>
        </p:nvSpPr>
        <p:spPr>
          <a:xfrm>
            <a:off x="7524750" y="5772150"/>
            <a:ext cx="1847850" cy="304800"/>
          </a:xfrm>
          <a:prstGeom prst="rect">
            <a:avLst/>
          </a:prstGeom>
          <a:noFill/>
        </p:spPr>
        <p:txBody>
          <a:bodyPr wrap="square" lIns="0" rIns="0" tIns="0" bIns="0" anchor="ctr">
            <a:spAutoFit/>
          </a:bodyPr>
          <a:lstStyle/>
          <a:p>
            <a:pPr algn="l">
              <a:lnSpc>
                <a:spcPct val="100000"/>
              </a:lnSpc>
            </a:pPr>
            <a:r>
              <a:rPr sz="750" b="0">
                <a:solidFill>
                  <a:srgbClr val="4A5568"/>
                </a:solidFill>
                <a:latin typeface="Arial"/>
              </a:rPr>
              <a:t>supported ÷ eligible</a:t>
            </a:r>
          </a:p>
        </p:txBody>
      </p:sp>
      <p:sp>
        <p:nvSpPr>
          <p:cNvPr id="65" name="Rectangle 64"/>
          <p:cNvSpPr/>
          <p:nvPr/>
        </p:nvSpPr>
        <p:spPr>
          <a:xfrm>
            <a:off x="9620250" y="4781550"/>
            <a:ext cx="2152650" cy="1409700"/>
          </a:xfrm>
          <a:prstGeom prst="rect">
            <a:avLst/>
          </a:prstGeom>
          <a:solidFill>
            <a:srgbClr val="FFFFFF"/>
          </a:solidFill>
          <a:ln w="9525">
            <a:solidFill>
              <a:srgbClr val="0B8A5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6" name="Rectangle 65"/>
          <p:cNvSpPr/>
          <p:nvPr/>
        </p:nvSpPr>
        <p:spPr>
          <a:xfrm>
            <a:off x="9620250" y="4781550"/>
            <a:ext cx="38100" cy="1409700"/>
          </a:xfrm>
          <a:prstGeom prst="rect">
            <a:avLst/>
          </a:prstGeom>
          <a:solidFill>
            <a:srgbClr val="0B8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7" name="TextBox 66"/>
          <p:cNvSpPr txBox="1"/>
          <p:nvPr/>
        </p:nvSpPr>
        <p:spPr>
          <a:xfrm>
            <a:off x="9829800" y="4914900"/>
            <a:ext cx="1809750" cy="123825"/>
          </a:xfrm>
          <a:prstGeom prst="rect">
            <a:avLst/>
          </a:prstGeom>
          <a:noFill/>
        </p:spPr>
        <p:txBody>
          <a:bodyPr wrap="none" lIns="0" rIns="0" tIns="0" bIns="0" anchor="ctr">
            <a:spAutoFit/>
          </a:bodyPr>
          <a:lstStyle/>
          <a:p>
            <a:pPr algn="l">
              <a:lnSpc>
                <a:spcPct val="100000"/>
              </a:lnSpc>
            </a:pPr>
            <a:r>
              <a:rPr sz="750" b="1">
                <a:solidFill>
                  <a:srgbClr val="0A5C42"/>
                </a:solidFill>
                <a:latin typeface="Arial"/>
              </a:rPr>
              <a:t>EVIDENCE LEVERAGE</a:t>
            </a:r>
          </a:p>
        </p:txBody>
      </p:sp>
      <p:sp>
        <p:nvSpPr>
          <p:cNvPr id="68" name="TextBox 67"/>
          <p:cNvSpPr txBox="1"/>
          <p:nvPr/>
        </p:nvSpPr>
        <p:spPr>
          <a:xfrm>
            <a:off x="9829800" y="5086350"/>
            <a:ext cx="1809750" cy="400050"/>
          </a:xfrm>
          <a:prstGeom prst="rect">
            <a:avLst/>
          </a:prstGeom>
          <a:noFill/>
        </p:spPr>
        <p:txBody>
          <a:bodyPr wrap="none" lIns="0" rIns="0" tIns="0" bIns="0" anchor="ctr">
            <a:spAutoFit/>
          </a:bodyPr>
          <a:lstStyle/>
          <a:p>
            <a:pPr algn="l">
              <a:lnSpc>
                <a:spcPct val="100000"/>
              </a:lnSpc>
            </a:pPr>
            <a:r>
              <a:rPr sz="2250" b="1">
                <a:solidFill>
                  <a:srgbClr val="00175A"/>
                </a:solidFill>
                <a:latin typeface="Arial"/>
              </a:rPr>
              <a:t>2.5</a:t>
            </a:r>
          </a:p>
        </p:txBody>
      </p:sp>
      <p:sp>
        <p:nvSpPr>
          <p:cNvPr id="69" name="TextBox 68"/>
          <p:cNvSpPr txBox="1"/>
          <p:nvPr/>
        </p:nvSpPr>
        <p:spPr>
          <a:xfrm>
            <a:off x="9829800" y="5543550"/>
            <a:ext cx="1866900" cy="161925"/>
          </a:xfrm>
          <a:prstGeom prst="rect">
            <a:avLst/>
          </a:prstGeom>
          <a:noFill/>
        </p:spPr>
        <p:txBody>
          <a:bodyPr wrap="none" lIns="0" rIns="0" tIns="0" bIns="0" anchor="ctr">
            <a:spAutoFit/>
          </a:bodyPr>
          <a:lstStyle/>
          <a:p>
            <a:pPr algn="l">
              <a:lnSpc>
                <a:spcPct val="100000"/>
              </a:lnSpc>
            </a:pPr>
            <a:r>
              <a:rPr sz="825" b="1">
                <a:solidFill>
                  <a:srgbClr val="00175A"/>
                </a:solidFill>
                <a:latin typeface="Arial"/>
              </a:rPr>
              <a:t>claims per specialist</a:t>
            </a:r>
          </a:p>
        </p:txBody>
      </p:sp>
      <p:sp>
        <p:nvSpPr>
          <p:cNvPr id="70" name="TextBox 69"/>
          <p:cNvSpPr txBox="1"/>
          <p:nvPr/>
        </p:nvSpPr>
        <p:spPr>
          <a:xfrm>
            <a:off x="9829800" y="5772150"/>
            <a:ext cx="1885950" cy="304800"/>
          </a:xfrm>
          <a:prstGeom prst="rect">
            <a:avLst/>
          </a:prstGeom>
          <a:noFill/>
        </p:spPr>
        <p:txBody>
          <a:bodyPr wrap="square" lIns="0" rIns="0" tIns="0" bIns="0" anchor="ctr">
            <a:spAutoFit/>
          </a:bodyPr>
          <a:lstStyle/>
          <a:p>
            <a:pPr algn="l">
              <a:lnSpc>
                <a:spcPct val="100000"/>
              </a:lnSpc>
            </a:pPr>
            <a:r>
              <a:rPr sz="750" b="0">
                <a:solidFill>
                  <a:srgbClr val="4A5568"/>
                </a:solidFill>
                <a:latin typeface="Arial"/>
              </a:rPr>
              <a:t>4 dispatched — </a:t>
            </a:r>
            <a:r>
              <a:rPr sz="750" b="1">
                <a:solidFill>
                  <a:srgbClr val="4A5568"/>
                </a:solidFill>
                <a:latin typeface="Arial"/>
              </a:rPr>
              <a:t>read within question class</a:t>
            </a:r>
          </a:p>
        </p:txBody>
      </p:sp>
      <p:cxnSp>
        <p:nvCxnSpPr>
          <p:cNvPr id="71" name="Connector 70"/>
          <p:cNvCxnSpPr/>
          <p:nvPr/>
        </p:nvCxnSpPr>
        <p:spPr>
          <a:xfrm>
            <a:off x="419100" y="6324600"/>
            <a:ext cx="1135380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19100" y="6438900"/>
            <a:ext cx="11353800" cy="190500"/>
          </a:xfrm>
          <a:prstGeom prst="rect">
            <a:avLst/>
          </a:prstGeom>
          <a:noFill/>
        </p:spPr>
        <p:txBody>
          <a:bodyPr wrap="none" lIns="0" rIns="0" tIns="0" bIns="0" anchor="ctr">
            <a:spAutoFit/>
          </a:bodyPr>
          <a:lstStyle/>
          <a:p>
            <a:pPr algn="ctr">
              <a:lnSpc>
                <a:spcPct val="100000"/>
              </a:lnSpc>
            </a:pPr>
            <a:r>
              <a:rPr sz="862" b="0">
                <a:solidFill>
                  <a:srgbClr val="6B7A90"/>
                </a:solidFill>
                <a:latin typeface="Arial"/>
              </a:rPr>
              <a:t>Both failures are invisible to a reader: one number that does not follow, one claim that was never measured.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